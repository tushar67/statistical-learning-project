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Sorts Mill Goudy" charset="-122" pitchFamily="34"/>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image" Target="../media/image-6-14.svg"/><Relationship Id="rId15" Type="http://schemas.openxmlformats.org/officeDocument/2006/relationships/image" Target="../media/image-6-15.png"/><Relationship Id="rId16" Type="http://schemas.openxmlformats.org/officeDocument/2006/relationships/image" Target="../media/image-6-16.svg"/><Relationship Id="rId17" Type="http://schemas.openxmlformats.org/officeDocument/2006/relationships/image" Target="../media/image-6-17.png"/><Relationship Id="rId18" Type="http://schemas.openxmlformats.org/officeDocument/2006/relationships/image" Target="../media/image-6-18.svg"/><Relationship Id="rId19" Type="http://schemas.openxmlformats.org/officeDocument/2006/relationships/slideLayout" Target="../slideLayouts/slideLayout1.xml"/><Relationship Id="rId2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image" Target="../media/image-7-11.png"/><Relationship Id="rId12" Type="http://schemas.openxmlformats.org/officeDocument/2006/relationships/image" Target="../media/image-7-12.svg"/><Relationship Id="rId13" Type="http://schemas.openxmlformats.org/officeDocument/2006/relationships/image" Target="../media/image-7-13.png"/><Relationship Id="rId14" Type="http://schemas.openxmlformats.org/officeDocument/2006/relationships/image" Target="../media/image-7-14.svg"/><Relationship Id="rId15" Type="http://schemas.openxmlformats.org/officeDocument/2006/relationships/image" Target="../media/image-7-15.png"/><Relationship Id="rId16" Type="http://schemas.openxmlformats.org/officeDocument/2006/relationships/image" Target="../media/image-7-16.svg"/><Relationship Id="rId17" Type="http://schemas.openxmlformats.org/officeDocument/2006/relationships/image" Target="../media/image-7-17.png"/><Relationship Id="rId18" Type="http://schemas.openxmlformats.org/officeDocument/2006/relationships/image" Target="../media/image-7-18.svg"/><Relationship Id="rId19" Type="http://schemas.openxmlformats.org/officeDocument/2006/relationships/slideLayout" Target="../slideLayouts/slideLayout1.xml"/><Relationship Id="rId2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image" Target="../media/image-8-13.png"/><Relationship Id="rId14" Type="http://schemas.openxmlformats.org/officeDocument/2006/relationships/image" Target="../media/image-8-14.svg"/><Relationship Id="rId15" Type="http://schemas.openxmlformats.org/officeDocument/2006/relationships/image" Target="../media/image-8-15.png"/><Relationship Id="rId16" Type="http://schemas.openxmlformats.org/officeDocument/2006/relationships/image" Target="../media/image-8-16.svg"/><Relationship Id="rId17" Type="http://schemas.openxmlformats.org/officeDocument/2006/relationships/image" Target="../media/image-8-17.png"/><Relationship Id="rId18" Type="http://schemas.openxmlformats.org/officeDocument/2006/relationships/image" Target="../media/image-8-18.svg"/><Relationship Id="rId19" Type="http://schemas.openxmlformats.org/officeDocument/2006/relationships/image" Target="../media/image-8-19.png"/><Relationship Id="rId20" Type="http://schemas.openxmlformats.org/officeDocument/2006/relationships/image" Target="../media/image-8-20.svg"/><Relationship Id="rId21" Type="http://schemas.openxmlformats.org/officeDocument/2006/relationships/image" Target="../media/image-8-21.png"/><Relationship Id="rId22" Type="http://schemas.openxmlformats.org/officeDocument/2006/relationships/image" Target="../media/image-8-22.svg"/><Relationship Id="rId23" Type="http://schemas.openxmlformats.org/officeDocument/2006/relationships/image" Target="../media/image-8-23.png"/><Relationship Id="rId24" Type="http://schemas.openxmlformats.org/officeDocument/2006/relationships/image" Target="../media/image-8-24.svg"/><Relationship Id="rId25" Type="http://schemas.openxmlformats.org/officeDocument/2006/relationships/slideLayout" Target="../slideLayouts/slideLayout1.xml"/><Relationship Id="rId2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1.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ttps://kimi-web-img.moonshot.cn/img/www.slideteam.net/0fda6b06e1eaaa01d811e30adb6031c7273d072f.jpeg">    </p:cNvPr>
          <p:cNvPicPr>
            <a:picLocks noChangeAspect="1"/>
          </p:cNvPicPr>
          <p:nvPr/>
        </p:nvPicPr>
        <p:blipFill>
          <a:blip r:embed="rId1">
            <a:alphaModFix amt="15000"/>
          </a:blip>
          <a:srcRect l="0" r="0" t="0" b="0"/>
          <a:stretch/>
        </p:blipFill>
        <p:spPr>
          <a:xfrm>
            <a:off x="0" y="0"/>
            <a:ext cx="12192000" cy="6858000"/>
          </a:xfrm>
          <a:prstGeom prst="roundRect">
            <a:avLst>
              <a:gd name="adj" fmla="val 0"/>
            </a:avLst>
          </a:prstGeom>
        </p:spPr>
      </p:pic>
      <p:sp>
        <p:nvSpPr>
          <p:cNvPr id="3" name="Shape 0"/>
          <p:cNvSpPr/>
          <p:nvPr/>
        </p:nvSpPr>
        <p:spPr>
          <a:xfrm>
            <a:off x="0" y="2540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FFFFFF">
                  <a:alpha val="95000"/>
                </a:srgbClr>
              </a:gs>
              <a:gs pos="50000">
                <a:srgbClr val="FFFFFF">
                  <a:alpha val="90000"/>
                </a:srgbClr>
              </a:gs>
              <a:gs pos="100000">
                <a:srgbClr val="8B0000">
                  <a:alpha val="5000"/>
                </a:srgbClr>
              </a:gs>
            </a:gsLst>
            <a:lin ang="2700000" scaled="1"/>
          </a:gradFill>
          <a:ln/>
        </p:spPr>
      </p:sp>
      <p:sp>
        <p:nvSpPr>
          <p:cNvPr id="4" name="Shape 1"/>
          <p:cNvSpPr/>
          <p:nvPr/>
        </p:nvSpPr>
        <p:spPr>
          <a:xfrm>
            <a:off x="381000" y="1463278"/>
            <a:ext cx="4781550" cy="381000"/>
          </a:xfrm>
          <a:custGeom>
            <a:avLst/>
            <a:gdLst/>
            <a:ahLst/>
            <a:cxnLst/>
            <a:rect l="l" t="t" r="r" b="b"/>
            <a:pathLst>
              <a:path w="4781550" h="381000">
                <a:moveTo>
                  <a:pt x="0" y="0"/>
                </a:moveTo>
                <a:lnTo>
                  <a:pt x="4781550" y="0"/>
                </a:lnTo>
                <a:lnTo>
                  <a:pt x="4781550" y="381000"/>
                </a:lnTo>
                <a:lnTo>
                  <a:pt x="0" y="381000"/>
                </a:lnTo>
                <a:lnTo>
                  <a:pt x="0" y="0"/>
                </a:lnTo>
                <a:close/>
              </a:path>
            </a:pathLst>
          </a:custGeom>
          <a:solidFill>
            <a:srgbClr val="8B0000"/>
          </a:solidFill>
          <a:ln/>
        </p:spPr>
      </p:sp>
      <p:sp>
        <p:nvSpPr>
          <p:cNvPr id="5" name="Text 2"/>
          <p:cNvSpPr/>
          <p:nvPr/>
        </p:nvSpPr>
        <p:spPr>
          <a:xfrm>
            <a:off x="381000" y="1463278"/>
            <a:ext cx="4857750" cy="381000"/>
          </a:xfrm>
          <a:prstGeom prst="rect">
            <a:avLst/>
          </a:prstGeom>
          <a:noFill/>
          <a:ln/>
        </p:spPr>
        <p:txBody>
          <a:bodyPr wrap="square" lIns="152400" tIns="76200" rIns="152400" bIns="76200" rtlCol="0" anchor="ctr"/>
          <a:lstStyle/>
          <a:p>
            <a:pPr>
              <a:lnSpc>
                <a:spcPct val="130000"/>
              </a:lnSpc>
            </a:pPr>
            <a:r>
              <a:rPr lang="en-US" sz="1200" b="1" spc="120" kern="0" dirty="0">
                <a:solidFill>
                  <a:srgbClr val="FFFFFF"/>
                </a:solidFill>
                <a:latin typeface="Sorts Mill Goudy" pitchFamily="34" charset="0"/>
                <a:ea typeface="Sorts Mill Goudy" pitchFamily="34" charset="-122"/>
                <a:cs typeface="Sorts Mill Goudy" pitchFamily="34" charset="-120"/>
              </a:rPr>
              <a:t>STATISTICAL LEARNING — INDIVIDUAL PROJECT</a:t>
            </a:r>
            <a:endParaRPr lang="en-US" sz="1600" dirty="0"/>
          </a:p>
        </p:txBody>
      </p:sp>
      <p:sp>
        <p:nvSpPr>
          <p:cNvPr id="6" name="Text 3"/>
          <p:cNvSpPr/>
          <p:nvPr/>
        </p:nvSpPr>
        <p:spPr>
          <a:xfrm>
            <a:off x="381000" y="2072878"/>
            <a:ext cx="11772900" cy="1714500"/>
          </a:xfrm>
          <a:prstGeom prst="rect">
            <a:avLst/>
          </a:prstGeom>
          <a:noFill/>
          <a:ln/>
        </p:spPr>
        <p:txBody>
          <a:bodyPr wrap="square" lIns="0" tIns="0" rIns="0" bIns="0" rtlCol="0" anchor="ctr"/>
          <a:lstStyle/>
          <a:p>
            <a:pPr>
              <a:lnSpc>
                <a:spcPct val="100000"/>
              </a:lnSpc>
            </a:pPr>
            <a:r>
              <a:rPr lang="en-US" sz="5400" b="1" dirty="0">
                <a:solidFill>
                  <a:srgbClr val="1F2937"/>
                </a:solidFill>
                <a:latin typeface="Sorts Mill Goudy" pitchFamily="34" charset="0"/>
                <a:ea typeface="Sorts Mill Goudy" pitchFamily="34" charset="-122"/>
                <a:cs typeface="Sorts Mill Goudy" pitchFamily="34" charset="-120"/>
              </a:rPr>
              <a:t>Smartphone Usage</a:t>
            </a:r>
            <a:endParaRPr lang="en-US" sz="1600" dirty="0"/>
          </a:p>
          <a:p>
            <a:pPr>
              <a:lnSpc>
                <a:spcPct val="100000"/>
              </a:lnSpc>
            </a:pPr>
            <a:r>
              <a:rPr lang="en-US" sz="5400" b="1" dirty="0">
                <a:solidFill>
                  <a:srgbClr val="8B0000"/>
                </a:solidFill>
                <a:latin typeface="Sorts Mill Goudy" pitchFamily="34" charset="0"/>
                <a:ea typeface="Sorts Mill Goudy" pitchFamily="34" charset="-122"/>
                <a:cs typeface="Sorts Mill Goudy" pitchFamily="34" charset="-120"/>
              </a:rPr>
              <a:t>&amp; Productivity</a:t>
            </a:r>
            <a:endParaRPr lang="en-US" sz="1600" dirty="0"/>
          </a:p>
        </p:txBody>
      </p:sp>
      <p:sp>
        <p:nvSpPr>
          <p:cNvPr id="7" name="Shape 4"/>
          <p:cNvSpPr/>
          <p:nvPr/>
        </p:nvSpPr>
        <p:spPr>
          <a:xfrm>
            <a:off x="381000" y="4015978"/>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a:ln/>
        </p:spPr>
      </p:sp>
      <p:sp>
        <p:nvSpPr>
          <p:cNvPr id="8" name="Text 5"/>
          <p:cNvSpPr/>
          <p:nvPr/>
        </p:nvSpPr>
        <p:spPr>
          <a:xfrm>
            <a:off x="381000" y="4358878"/>
            <a:ext cx="7458075" cy="466725"/>
          </a:xfrm>
          <a:prstGeom prst="rect">
            <a:avLst/>
          </a:prstGeom>
          <a:noFill/>
          <a:ln/>
        </p:spPr>
        <p:txBody>
          <a:bodyPr wrap="square" lIns="0" tIns="0" rIns="0" bIns="0" rtlCol="0" anchor="ctr"/>
          <a:lstStyle/>
          <a:p>
            <a:pPr>
              <a:lnSpc>
                <a:spcPct val="140000"/>
              </a:lnSpc>
            </a:pPr>
            <a:r>
              <a:rPr lang="en-US" sz="2250" dirty="0">
                <a:solidFill>
                  <a:srgbClr val="6B7280"/>
                </a:solidFill>
                <a:latin typeface="Sorts Mill Goudy" pitchFamily="34" charset="0"/>
                <a:ea typeface="Sorts Mill Goudy" pitchFamily="34" charset="-122"/>
                <a:cs typeface="Sorts Mill Goudy" pitchFamily="34" charset="-120"/>
              </a:rPr>
              <a:t>Behavioral Profiling and Predictive Modelling</a:t>
            </a:r>
            <a:endParaRPr lang="en-US" sz="1600" dirty="0"/>
          </a:p>
        </p:txBody>
      </p:sp>
      <p:sp>
        <p:nvSpPr>
          <p:cNvPr id="9" name="Text 6"/>
          <p:cNvSpPr/>
          <p:nvPr/>
        </p:nvSpPr>
        <p:spPr>
          <a:xfrm>
            <a:off x="381000" y="5905500"/>
            <a:ext cx="1971675"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Tushar Randhir Sinha</a:t>
            </a:r>
            <a:endParaRPr lang="en-US" sz="1600" dirty="0"/>
          </a:p>
        </p:txBody>
      </p:sp>
      <p:sp>
        <p:nvSpPr>
          <p:cNvPr id="10" name="Text 7"/>
          <p:cNvSpPr/>
          <p:nvPr/>
        </p:nvSpPr>
        <p:spPr>
          <a:xfrm>
            <a:off x="381000" y="6210300"/>
            <a:ext cx="1962150" cy="266700"/>
          </a:xfrm>
          <a:prstGeom prst="rect">
            <a:avLst/>
          </a:prstGeom>
          <a:noFill/>
          <a:ln/>
        </p:spPr>
        <p:txBody>
          <a:bodyPr wrap="square" lIns="0" tIns="0" rIns="0" bIns="0" rtlCol="0" anchor="ctr"/>
          <a:lstStyle/>
          <a:p>
            <a:pPr>
              <a:lnSpc>
                <a:spcPct val="130000"/>
              </a:lnSpc>
            </a:pPr>
            <a:r>
              <a:rPr lang="en-US" sz="1350" dirty="0">
                <a:solidFill>
                  <a:srgbClr val="6B7280"/>
                </a:solidFill>
                <a:latin typeface="Sorts Mill Goudy" pitchFamily="34" charset="0"/>
                <a:ea typeface="Sorts Mill Goudy" pitchFamily="34" charset="-122"/>
                <a:cs typeface="Sorts Mill Goudy" pitchFamily="34" charset="-120"/>
              </a:rPr>
              <a:t>Academic Year 2024/2025</a:t>
            </a:r>
            <a:endParaRPr lang="en-US" sz="1600" dirty="0"/>
          </a:p>
        </p:txBody>
      </p:sp>
      <p:sp>
        <p:nvSpPr>
          <p:cNvPr id="11" name="Text 8"/>
          <p:cNvSpPr/>
          <p:nvPr/>
        </p:nvSpPr>
        <p:spPr>
          <a:xfrm>
            <a:off x="9497690" y="6019800"/>
            <a:ext cx="2314575" cy="228600"/>
          </a:xfrm>
          <a:prstGeom prst="rect">
            <a:avLst/>
          </a:prstGeom>
          <a:noFill/>
          <a:ln/>
        </p:spPr>
        <p:txBody>
          <a:bodyPr wrap="square" lIns="0" tIns="0" rIns="0" bIns="0" rtlCol="0" anchor="ctr"/>
          <a:lstStyle/>
          <a:p>
            <a:pPr algn="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50,000 Observations × 13 Variables</a:t>
            </a:r>
            <a:endParaRPr lang="en-US" sz="1600" dirty="0"/>
          </a:p>
        </p:txBody>
      </p:sp>
      <p:sp>
        <p:nvSpPr>
          <p:cNvPr id="12" name="Text 9"/>
          <p:cNvSpPr/>
          <p:nvPr/>
        </p:nvSpPr>
        <p:spPr>
          <a:xfrm>
            <a:off x="9497690" y="6248400"/>
            <a:ext cx="2314575" cy="228600"/>
          </a:xfrm>
          <a:prstGeom prst="rect">
            <a:avLst/>
          </a:prstGeom>
          <a:noFill/>
          <a:ln/>
        </p:spPr>
        <p:txBody>
          <a:bodyPr wrap="square" lIns="0" tIns="0" rIns="0" bIns="0" rtlCol="0" anchor="ctr"/>
          <a:lstStyle/>
          <a:p>
            <a:pPr algn="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R (tidyverse, randomForest, caret)</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438150"/>
            <a:ext cx="76200" cy="609600"/>
          </a:xfrm>
          <a:custGeom>
            <a:avLst/>
            <a:gdLst/>
            <a:ahLst/>
            <a:cxnLst/>
            <a:rect l="l" t="t" r="r" b="b"/>
            <a:pathLst>
              <a:path w="76200" h="609600">
                <a:moveTo>
                  <a:pt x="0" y="0"/>
                </a:moveTo>
                <a:lnTo>
                  <a:pt x="76200" y="0"/>
                </a:lnTo>
                <a:lnTo>
                  <a:pt x="76200" y="609600"/>
                </a:lnTo>
                <a:lnTo>
                  <a:pt x="0" y="609600"/>
                </a:lnTo>
                <a:lnTo>
                  <a:pt x="0" y="0"/>
                </a:lnTo>
                <a:close/>
              </a:path>
            </a:pathLst>
          </a:custGeom>
          <a:solidFill>
            <a:srgbClr val="8B0000"/>
          </a:solidFill>
          <a:ln/>
        </p:spPr>
      </p:sp>
      <p:sp>
        <p:nvSpPr>
          <p:cNvPr id="3" name="Text 1"/>
          <p:cNvSpPr/>
          <p:nvPr/>
        </p:nvSpPr>
        <p:spPr>
          <a:xfrm>
            <a:off x="609600" y="381000"/>
            <a:ext cx="1943100" cy="228600"/>
          </a:xfrm>
          <a:prstGeom prst="rect">
            <a:avLst/>
          </a:prstGeom>
          <a:noFill/>
          <a:ln/>
        </p:spPr>
        <p:txBody>
          <a:bodyPr wrap="square" lIns="0" tIns="0" rIns="0" bIns="0" rtlCol="0" anchor="ctr"/>
          <a:lstStyle/>
          <a:p>
            <a:pPr>
              <a:lnSpc>
                <a:spcPct val="130000"/>
              </a:lnSpc>
            </a:pPr>
            <a:r>
              <a:rPr lang="en-US" sz="1200" b="1" spc="60" kern="0" dirty="0">
                <a:solidFill>
                  <a:srgbClr val="8B0000"/>
                </a:solidFill>
                <a:latin typeface="Sorts Mill Goudy" pitchFamily="34" charset="0"/>
                <a:ea typeface="Sorts Mill Goudy" pitchFamily="34" charset="-122"/>
                <a:cs typeface="Sorts Mill Goudy" pitchFamily="34" charset="-120"/>
              </a:rPr>
              <a:t>OVERVIEW</a:t>
            </a:r>
            <a:endParaRPr lang="en-US" sz="1600" dirty="0"/>
          </a:p>
        </p:txBody>
      </p:sp>
      <p:sp>
        <p:nvSpPr>
          <p:cNvPr id="4" name="Text 2"/>
          <p:cNvSpPr/>
          <p:nvPr/>
        </p:nvSpPr>
        <p:spPr>
          <a:xfrm>
            <a:off x="609600" y="647700"/>
            <a:ext cx="2095500" cy="457200"/>
          </a:xfrm>
          <a:prstGeom prst="rect">
            <a:avLst/>
          </a:prstGeom>
          <a:noFill/>
          <a:ln/>
        </p:spPr>
        <p:txBody>
          <a:bodyPr wrap="square" lIns="0" tIns="0" rIns="0" bIns="0" rtlCol="0" anchor="ctr"/>
          <a:lstStyle/>
          <a:p>
            <a:pPr>
              <a:lnSpc>
                <a:spcPct val="80000"/>
              </a:lnSpc>
            </a:pPr>
            <a:r>
              <a:rPr lang="en-US" sz="3600" b="1" dirty="0">
                <a:solidFill>
                  <a:srgbClr val="1F2937"/>
                </a:solidFill>
                <a:latin typeface="Sorts Mill Goudy" pitchFamily="34" charset="0"/>
                <a:ea typeface="Sorts Mill Goudy" pitchFamily="34" charset="-122"/>
                <a:cs typeface="Sorts Mill Goudy" pitchFamily="34" charset="-120"/>
              </a:rPr>
              <a:t>Contents</a:t>
            </a:r>
            <a:endParaRPr lang="en-US" sz="1600" dirty="0"/>
          </a:p>
        </p:txBody>
      </p:sp>
      <p:sp>
        <p:nvSpPr>
          <p:cNvPr id="5" name="Shape 3"/>
          <p:cNvSpPr/>
          <p:nvPr/>
        </p:nvSpPr>
        <p:spPr>
          <a:xfrm>
            <a:off x="400050" y="1562100"/>
            <a:ext cx="38100" cy="1114425"/>
          </a:xfrm>
          <a:custGeom>
            <a:avLst/>
            <a:gdLst/>
            <a:ahLst/>
            <a:cxnLst/>
            <a:rect l="l" t="t" r="r" b="b"/>
            <a:pathLst>
              <a:path w="38100" h="1114425">
                <a:moveTo>
                  <a:pt x="0" y="0"/>
                </a:moveTo>
                <a:lnTo>
                  <a:pt x="38100" y="0"/>
                </a:lnTo>
                <a:lnTo>
                  <a:pt x="38100" y="1114425"/>
                </a:lnTo>
                <a:lnTo>
                  <a:pt x="0" y="1114425"/>
                </a:lnTo>
                <a:lnTo>
                  <a:pt x="0" y="0"/>
                </a:lnTo>
                <a:close/>
              </a:path>
            </a:pathLst>
          </a:custGeom>
          <a:solidFill>
            <a:srgbClr val="8B0000"/>
          </a:solidFill>
          <a:ln/>
        </p:spPr>
      </p:sp>
      <p:sp>
        <p:nvSpPr>
          <p:cNvPr id="6" name="Text 4"/>
          <p:cNvSpPr/>
          <p:nvPr/>
        </p:nvSpPr>
        <p:spPr>
          <a:xfrm>
            <a:off x="571500" y="1714500"/>
            <a:ext cx="381000" cy="457200"/>
          </a:xfrm>
          <a:prstGeom prst="rect">
            <a:avLst/>
          </a:prstGeom>
          <a:noFill/>
          <a:ln/>
        </p:spPr>
        <p:txBody>
          <a:bodyPr wrap="square" lIns="0" tIns="0" rIns="0" bIns="0" rtlCol="0" anchor="ctr"/>
          <a:lstStyle/>
          <a:p>
            <a:pPr>
              <a:lnSpc>
                <a:spcPct val="80000"/>
              </a:lnSpc>
            </a:pPr>
            <a:r>
              <a:rPr lang="en-US" sz="3600" b="1" dirty="0">
                <a:solidFill>
                  <a:srgbClr val="8B0000"/>
                </a:solidFill>
                <a:latin typeface="Sorts Mill Goudy" pitchFamily="34" charset="0"/>
                <a:ea typeface="Sorts Mill Goudy" pitchFamily="34" charset="-122"/>
                <a:cs typeface="Sorts Mill Goudy" pitchFamily="34" charset="-120"/>
              </a:rPr>
              <a:t>1</a:t>
            </a:r>
            <a:endParaRPr lang="en-US" sz="1600" dirty="0"/>
          </a:p>
        </p:txBody>
      </p:sp>
      <p:sp>
        <p:nvSpPr>
          <p:cNvPr id="7" name="Text 5"/>
          <p:cNvSpPr/>
          <p:nvPr/>
        </p:nvSpPr>
        <p:spPr>
          <a:xfrm>
            <a:off x="879351" y="1790700"/>
            <a:ext cx="49530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Introduction &amp; Research Questions</a:t>
            </a:r>
            <a:endParaRPr lang="en-US" sz="1600" dirty="0"/>
          </a:p>
        </p:txBody>
      </p:sp>
      <p:sp>
        <p:nvSpPr>
          <p:cNvPr id="8" name="Text 6"/>
          <p:cNvSpPr/>
          <p:nvPr/>
        </p:nvSpPr>
        <p:spPr>
          <a:xfrm>
            <a:off x="879351" y="2171700"/>
            <a:ext cx="49149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Context, objectives, and analytical framework</a:t>
            </a:r>
            <a:endParaRPr lang="en-US" sz="1600" dirty="0"/>
          </a:p>
        </p:txBody>
      </p:sp>
      <p:sp>
        <p:nvSpPr>
          <p:cNvPr id="9" name="Shape 7"/>
          <p:cNvSpPr/>
          <p:nvPr/>
        </p:nvSpPr>
        <p:spPr>
          <a:xfrm>
            <a:off x="6343650" y="1562100"/>
            <a:ext cx="38100" cy="1114425"/>
          </a:xfrm>
          <a:custGeom>
            <a:avLst/>
            <a:gdLst/>
            <a:ahLst/>
            <a:cxnLst/>
            <a:rect l="l" t="t" r="r" b="b"/>
            <a:pathLst>
              <a:path w="38100" h="1114425">
                <a:moveTo>
                  <a:pt x="0" y="0"/>
                </a:moveTo>
                <a:lnTo>
                  <a:pt x="38100" y="0"/>
                </a:lnTo>
                <a:lnTo>
                  <a:pt x="38100" y="1114425"/>
                </a:lnTo>
                <a:lnTo>
                  <a:pt x="0" y="1114425"/>
                </a:lnTo>
                <a:lnTo>
                  <a:pt x="0" y="0"/>
                </a:lnTo>
                <a:close/>
              </a:path>
            </a:pathLst>
          </a:custGeom>
          <a:solidFill>
            <a:srgbClr val="8B0000"/>
          </a:solidFill>
          <a:ln/>
        </p:spPr>
      </p:sp>
      <p:sp>
        <p:nvSpPr>
          <p:cNvPr id="10" name="Text 8"/>
          <p:cNvSpPr/>
          <p:nvPr/>
        </p:nvSpPr>
        <p:spPr>
          <a:xfrm>
            <a:off x="6515100" y="1714500"/>
            <a:ext cx="438150" cy="457200"/>
          </a:xfrm>
          <a:prstGeom prst="rect">
            <a:avLst/>
          </a:prstGeom>
          <a:noFill/>
          <a:ln/>
        </p:spPr>
        <p:txBody>
          <a:bodyPr wrap="square" lIns="0" tIns="0" rIns="0" bIns="0" rtlCol="0" anchor="ctr"/>
          <a:lstStyle/>
          <a:p>
            <a:pPr>
              <a:lnSpc>
                <a:spcPct val="80000"/>
              </a:lnSpc>
            </a:pPr>
            <a:r>
              <a:rPr lang="en-US" sz="3600" b="1" dirty="0">
                <a:solidFill>
                  <a:srgbClr val="8B0000"/>
                </a:solidFill>
                <a:latin typeface="Sorts Mill Goudy" pitchFamily="34" charset="0"/>
                <a:ea typeface="Sorts Mill Goudy" pitchFamily="34" charset="-122"/>
                <a:cs typeface="Sorts Mill Goudy" pitchFamily="34" charset="-120"/>
              </a:rPr>
              <a:t>2</a:t>
            </a:r>
            <a:endParaRPr lang="en-US" sz="1600" dirty="0"/>
          </a:p>
        </p:txBody>
      </p:sp>
      <p:sp>
        <p:nvSpPr>
          <p:cNvPr id="11" name="Text 9"/>
          <p:cNvSpPr/>
          <p:nvPr/>
        </p:nvSpPr>
        <p:spPr>
          <a:xfrm>
            <a:off x="6881515" y="1790700"/>
            <a:ext cx="489585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Dataset Description</a:t>
            </a:r>
            <a:endParaRPr lang="en-US" sz="1600" dirty="0"/>
          </a:p>
        </p:txBody>
      </p:sp>
      <p:sp>
        <p:nvSpPr>
          <p:cNvPr id="12" name="Text 10"/>
          <p:cNvSpPr/>
          <p:nvPr/>
        </p:nvSpPr>
        <p:spPr>
          <a:xfrm>
            <a:off x="6881515" y="2171700"/>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Variables, structure, and target outcomes</a:t>
            </a:r>
            <a:endParaRPr lang="en-US" sz="1600" dirty="0"/>
          </a:p>
        </p:txBody>
      </p:sp>
      <p:sp>
        <p:nvSpPr>
          <p:cNvPr id="13" name="Shape 11"/>
          <p:cNvSpPr/>
          <p:nvPr/>
        </p:nvSpPr>
        <p:spPr>
          <a:xfrm>
            <a:off x="400050" y="2828925"/>
            <a:ext cx="38100" cy="1114425"/>
          </a:xfrm>
          <a:custGeom>
            <a:avLst/>
            <a:gdLst/>
            <a:ahLst/>
            <a:cxnLst/>
            <a:rect l="l" t="t" r="r" b="b"/>
            <a:pathLst>
              <a:path w="38100" h="1114425">
                <a:moveTo>
                  <a:pt x="0" y="0"/>
                </a:moveTo>
                <a:lnTo>
                  <a:pt x="38100" y="0"/>
                </a:lnTo>
                <a:lnTo>
                  <a:pt x="38100" y="1114425"/>
                </a:lnTo>
                <a:lnTo>
                  <a:pt x="0" y="1114425"/>
                </a:lnTo>
                <a:lnTo>
                  <a:pt x="0" y="0"/>
                </a:lnTo>
                <a:close/>
              </a:path>
            </a:pathLst>
          </a:custGeom>
          <a:solidFill>
            <a:srgbClr val="8B0000"/>
          </a:solidFill>
          <a:ln/>
        </p:spPr>
      </p:sp>
      <p:sp>
        <p:nvSpPr>
          <p:cNvPr id="14" name="Text 12"/>
          <p:cNvSpPr/>
          <p:nvPr/>
        </p:nvSpPr>
        <p:spPr>
          <a:xfrm>
            <a:off x="571500" y="2981325"/>
            <a:ext cx="409575" cy="457200"/>
          </a:xfrm>
          <a:prstGeom prst="rect">
            <a:avLst/>
          </a:prstGeom>
          <a:noFill/>
          <a:ln/>
        </p:spPr>
        <p:txBody>
          <a:bodyPr wrap="square" lIns="0" tIns="0" rIns="0" bIns="0" rtlCol="0" anchor="ctr"/>
          <a:lstStyle/>
          <a:p>
            <a:pPr>
              <a:lnSpc>
                <a:spcPct val="80000"/>
              </a:lnSpc>
            </a:pPr>
            <a:r>
              <a:rPr lang="en-US" sz="3600" b="1" dirty="0">
                <a:solidFill>
                  <a:srgbClr val="8B0000"/>
                </a:solidFill>
                <a:latin typeface="Sorts Mill Goudy" pitchFamily="34" charset="0"/>
                <a:ea typeface="Sorts Mill Goudy" pitchFamily="34" charset="-122"/>
                <a:cs typeface="Sorts Mill Goudy" pitchFamily="34" charset="-120"/>
              </a:rPr>
              <a:t>3</a:t>
            </a:r>
            <a:endParaRPr lang="en-US" sz="1600" dirty="0"/>
          </a:p>
        </p:txBody>
      </p:sp>
      <p:sp>
        <p:nvSpPr>
          <p:cNvPr id="15" name="Text 13"/>
          <p:cNvSpPr/>
          <p:nvPr/>
        </p:nvSpPr>
        <p:spPr>
          <a:xfrm>
            <a:off x="908670" y="3057525"/>
            <a:ext cx="492442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Exploratory Data Analysis</a:t>
            </a:r>
            <a:endParaRPr lang="en-US" sz="1600" dirty="0"/>
          </a:p>
        </p:txBody>
      </p:sp>
      <p:sp>
        <p:nvSpPr>
          <p:cNvPr id="16" name="Text 14"/>
          <p:cNvSpPr/>
          <p:nvPr/>
        </p:nvSpPr>
        <p:spPr>
          <a:xfrm>
            <a:off x="908670" y="3438525"/>
            <a:ext cx="4886325"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Descriptive statistics and correlation analysis</a:t>
            </a:r>
            <a:endParaRPr lang="en-US" sz="1600" dirty="0"/>
          </a:p>
        </p:txBody>
      </p:sp>
      <p:sp>
        <p:nvSpPr>
          <p:cNvPr id="17" name="Shape 15"/>
          <p:cNvSpPr/>
          <p:nvPr/>
        </p:nvSpPr>
        <p:spPr>
          <a:xfrm>
            <a:off x="6343650" y="2828925"/>
            <a:ext cx="38100" cy="1114425"/>
          </a:xfrm>
          <a:custGeom>
            <a:avLst/>
            <a:gdLst/>
            <a:ahLst/>
            <a:cxnLst/>
            <a:rect l="l" t="t" r="r" b="b"/>
            <a:pathLst>
              <a:path w="38100" h="1114425">
                <a:moveTo>
                  <a:pt x="0" y="0"/>
                </a:moveTo>
                <a:lnTo>
                  <a:pt x="38100" y="0"/>
                </a:lnTo>
                <a:lnTo>
                  <a:pt x="38100" y="1114425"/>
                </a:lnTo>
                <a:lnTo>
                  <a:pt x="0" y="1114425"/>
                </a:lnTo>
                <a:lnTo>
                  <a:pt x="0" y="0"/>
                </a:lnTo>
                <a:close/>
              </a:path>
            </a:pathLst>
          </a:custGeom>
          <a:solidFill>
            <a:srgbClr val="8B0000"/>
          </a:solidFill>
          <a:ln/>
        </p:spPr>
      </p:sp>
      <p:sp>
        <p:nvSpPr>
          <p:cNvPr id="18" name="Text 16"/>
          <p:cNvSpPr/>
          <p:nvPr/>
        </p:nvSpPr>
        <p:spPr>
          <a:xfrm>
            <a:off x="6515100" y="2981325"/>
            <a:ext cx="457200" cy="457200"/>
          </a:xfrm>
          <a:prstGeom prst="rect">
            <a:avLst/>
          </a:prstGeom>
          <a:noFill/>
          <a:ln/>
        </p:spPr>
        <p:txBody>
          <a:bodyPr wrap="square" lIns="0" tIns="0" rIns="0" bIns="0" rtlCol="0" anchor="ctr"/>
          <a:lstStyle/>
          <a:p>
            <a:pPr>
              <a:lnSpc>
                <a:spcPct val="80000"/>
              </a:lnSpc>
            </a:pPr>
            <a:r>
              <a:rPr lang="en-US" sz="3600" b="1" dirty="0">
                <a:solidFill>
                  <a:srgbClr val="8B0000"/>
                </a:solidFill>
                <a:latin typeface="Sorts Mill Goudy" pitchFamily="34" charset="0"/>
                <a:ea typeface="Sorts Mill Goudy" pitchFamily="34" charset="-122"/>
                <a:cs typeface="Sorts Mill Goudy" pitchFamily="34" charset="-120"/>
              </a:rPr>
              <a:t>4</a:t>
            </a:r>
            <a:endParaRPr lang="en-US" sz="1600" dirty="0"/>
          </a:p>
        </p:txBody>
      </p:sp>
      <p:sp>
        <p:nvSpPr>
          <p:cNvPr id="19" name="Text 17"/>
          <p:cNvSpPr/>
          <p:nvPr/>
        </p:nvSpPr>
        <p:spPr>
          <a:xfrm>
            <a:off x="6897960" y="3057525"/>
            <a:ext cx="48768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Unsupervised Analysis</a:t>
            </a:r>
            <a:endParaRPr lang="en-US" sz="1600" dirty="0"/>
          </a:p>
        </p:txBody>
      </p:sp>
      <p:sp>
        <p:nvSpPr>
          <p:cNvPr id="20" name="Text 18"/>
          <p:cNvSpPr/>
          <p:nvPr/>
        </p:nvSpPr>
        <p:spPr>
          <a:xfrm>
            <a:off x="6897960" y="3438525"/>
            <a:ext cx="48387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PCA and K-Means clustering</a:t>
            </a:r>
            <a:endParaRPr lang="en-US" sz="1600" dirty="0"/>
          </a:p>
        </p:txBody>
      </p:sp>
      <p:sp>
        <p:nvSpPr>
          <p:cNvPr id="21" name="Shape 19"/>
          <p:cNvSpPr/>
          <p:nvPr/>
        </p:nvSpPr>
        <p:spPr>
          <a:xfrm>
            <a:off x="400050" y="4095750"/>
            <a:ext cx="38100" cy="1114425"/>
          </a:xfrm>
          <a:custGeom>
            <a:avLst/>
            <a:gdLst/>
            <a:ahLst/>
            <a:cxnLst/>
            <a:rect l="l" t="t" r="r" b="b"/>
            <a:pathLst>
              <a:path w="38100" h="1114425">
                <a:moveTo>
                  <a:pt x="0" y="0"/>
                </a:moveTo>
                <a:lnTo>
                  <a:pt x="38100" y="0"/>
                </a:lnTo>
                <a:lnTo>
                  <a:pt x="38100" y="1114425"/>
                </a:lnTo>
                <a:lnTo>
                  <a:pt x="0" y="1114425"/>
                </a:lnTo>
                <a:lnTo>
                  <a:pt x="0" y="0"/>
                </a:lnTo>
                <a:close/>
              </a:path>
            </a:pathLst>
          </a:custGeom>
          <a:solidFill>
            <a:srgbClr val="8B0000"/>
          </a:solidFill>
          <a:ln/>
        </p:spPr>
      </p:sp>
      <p:sp>
        <p:nvSpPr>
          <p:cNvPr id="22" name="Text 20"/>
          <p:cNvSpPr/>
          <p:nvPr/>
        </p:nvSpPr>
        <p:spPr>
          <a:xfrm>
            <a:off x="571500" y="4248150"/>
            <a:ext cx="381000" cy="457200"/>
          </a:xfrm>
          <a:prstGeom prst="rect">
            <a:avLst/>
          </a:prstGeom>
          <a:noFill/>
          <a:ln/>
        </p:spPr>
        <p:txBody>
          <a:bodyPr wrap="square" lIns="0" tIns="0" rIns="0" bIns="0" rtlCol="0" anchor="ctr"/>
          <a:lstStyle/>
          <a:p>
            <a:pPr>
              <a:lnSpc>
                <a:spcPct val="80000"/>
              </a:lnSpc>
            </a:pPr>
            <a:r>
              <a:rPr lang="en-US" sz="3600" b="1" dirty="0">
                <a:solidFill>
                  <a:srgbClr val="8B0000"/>
                </a:solidFill>
                <a:latin typeface="Sorts Mill Goudy" pitchFamily="34" charset="0"/>
                <a:ea typeface="Sorts Mill Goudy" pitchFamily="34" charset="-122"/>
                <a:cs typeface="Sorts Mill Goudy" pitchFamily="34" charset="-120"/>
              </a:rPr>
              <a:t>5</a:t>
            </a:r>
            <a:endParaRPr lang="en-US" sz="1600" dirty="0"/>
          </a:p>
        </p:txBody>
      </p:sp>
      <p:sp>
        <p:nvSpPr>
          <p:cNvPr id="23" name="Text 21"/>
          <p:cNvSpPr/>
          <p:nvPr/>
        </p:nvSpPr>
        <p:spPr>
          <a:xfrm>
            <a:off x="880318" y="4324350"/>
            <a:ext cx="49530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Supervised Analysis</a:t>
            </a:r>
            <a:endParaRPr lang="en-US" sz="1600" dirty="0"/>
          </a:p>
        </p:txBody>
      </p:sp>
      <p:sp>
        <p:nvSpPr>
          <p:cNvPr id="24" name="Text 22"/>
          <p:cNvSpPr/>
          <p:nvPr/>
        </p:nvSpPr>
        <p:spPr>
          <a:xfrm>
            <a:off x="880318" y="4705350"/>
            <a:ext cx="49149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Regression and classification models</a:t>
            </a:r>
            <a:endParaRPr lang="en-US" sz="1600" dirty="0"/>
          </a:p>
        </p:txBody>
      </p:sp>
      <p:sp>
        <p:nvSpPr>
          <p:cNvPr id="25" name="Shape 23"/>
          <p:cNvSpPr/>
          <p:nvPr/>
        </p:nvSpPr>
        <p:spPr>
          <a:xfrm>
            <a:off x="6343650" y="4095750"/>
            <a:ext cx="38100" cy="1114425"/>
          </a:xfrm>
          <a:custGeom>
            <a:avLst/>
            <a:gdLst/>
            <a:ahLst/>
            <a:cxnLst/>
            <a:rect l="l" t="t" r="r" b="b"/>
            <a:pathLst>
              <a:path w="38100" h="1114425">
                <a:moveTo>
                  <a:pt x="0" y="0"/>
                </a:moveTo>
                <a:lnTo>
                  <a:pt x="38100" y="0"/>
                </a:lnTo>
                <a:lnTo>
                  <a:pt x="38100" y="1114425"/>
                </a:lnTo>
                <a:lnTo>
                  <a:pt x="0" y="1114425"/>
                </a:lnTo>
                <a:lnTo>
                  <a:pt x="0" y="0"/>
                </a:lnTo>
                <a:close/>
              </a:path>
            </a:pathLst>
          </a:custGeom>
          <a:solidFill>
            <a:srgbClr val="8B0000"/>
          </a:solidFill>
          <a:ln/>
        </p:spPr>
      </p:sp>
      <p:sp>
        <p:nvSpPr>
          <p:cNvPr id="26" name="Text 24"/>
          <p:cNvSpPr/>
          <p:nvPr/>
        </p:nvSpPr>
        <p:spPr>
          <a:xfrm>
            <a:off x="6515100" y="4248150"/>
            <a:ext cx="457200" cy="457200"/>
          </a:xfrm>
          <a:prstGeom prst="rect">
            <a:avLst/>
          </a:prstGeom>
          <a:noFill/>
          <a:ln/>
        </p:spPr>
        <p:txBody>
          <a:bodyPr wrap="square" lIns="0" tIns="0" rIns="0" bIns="0" rtlCol="0" anchor="ctr"/>
          <a:lstStyle/>
          <a:p>
            <a:pPr>
              <a:lnSpc>
                <a:spcPct val="80000"/>
              </a:lnSpc>
            </a:pPr>
            <a:r>
              <a:rPr lang="en-US" sz="3600"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27" name="Text 25"/>
          <p:cNvSpPr/>
          <p:nvPr/>
        </p:nvSpPr>
        <p:spPr>
          <a:xfrm>
            <a:off x="6894761" y="4324350"/>
            <a:ext cx="48768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Results &amp; Discussion</a:t>
            </a:r>
            <a:endParaRPr lang="en-US" sz="1600" dirty="0"/>
          </a:p>
        </p:txBody>
      </p:sp>
      <p:sp>
        <p:nvSpPr>
          <p:cNvPr id="28" name="Text 26"/>
          <p:cNvSpPr/>
          <p:nvPr/>
        </p:nvSpPr>
        <p:spPr>
          <a:xfrm>
            <a:off x="6894761" y="4705350"/>
            <a:ext cx="48387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Model performance and key findings</a:t>
            </a:r>
            <a:endParaRPr lang="en-US" sz="1600" dirty="0"/>
          </a:p>
        </p:txBody>
      </p:sp>
      <p:sp>
        <p:nvSpPr>
          <p:cNvPr id="29" name="Shape 27"/>
          <p:cNvSpPr/>
          <p:nvPr/>
        </p:nvSpPr>
        <p:spPr>
          <a:xfrm>
            <a:off x="400050" y="5362575"/>
            <a:ext cx="38100" cy="1114425"/>
          </a:xfrm>
          <a:custGeom>
            <a:avLst/>
            <a:gdLst/>
            <a:ahLst/>
            <a:cxnLst/>
            <a:rect l="l" t="t" r="r" b="b"/>
            <a:pathLst>
              <a:path w="38100" h="1114425">
                <a:moveTo>
                  <a:pt x="0" y="0"/>
                </a:moveTo>
                <a:lnTo>
                  <a:pt x="38100" y="0"/>
                </a:lnTo>
                <a:lnTo>
                  <a:pt x="38100" y="1114425"/>
                </a:lnTo>
                <a:lnTo>
                  <a:pt x="0" y="1114425"/>
                </a:lnTo>
                <a:lnTo>
                  <a:pt x="0" y="0"/>
                </a:lnTo>
                <a:close/>
              </a:path>
            </a:pathLst>
          </a:custGeom>
          <a:solidFill>
            <a:srgbClr val="8B0000"/>
          </a:solidFill>
          <a:ln/>
        </p:spPr>
      </p:sp>
      <p:sp>
        <p:nvSpPr>
          <p:cNvPr id="30" name="Text 28"/>
          <p:cNvSpPr/>
          <p:nvPr/>
        </p:nvSpPr>
        <p:spPr>
          <a:xfrm>
            <a:off x="571500" y="5514975"/>
            <a:ext cx="457200" cy="457200"/>
          </a:xfrm>
          <a:prstGeom prst="rect">
            <a:avLst/>
          </a:prstGeom>
          <a:noFill/>
          <a:ln/>
        </p:spPr>
        <p:txBody>
          <a:bodyPr wrap="square" lIns="0" tIns="0" rIns="0" bIns="0" rtlCol="0" anchor="ctr"/>
          <a:lstStyle/>
          <a:p>
            <a:pPr>
              <a:lnSpc>
                <a:spcPct val="80000"/>
              </a:lnSpc>
            </a:pPr>
            <a:r>
              <a:rPr lang="en-US" sz="3600" b="1" dirty="0">
                <a:solidFill>
                  <a:srgbClr val="8B0000"/>
                </a:solidFill>
                <a:latin typeface="Sorts Mill Goudy" pitchFamily="34" charset="0"/>
                <a:ea typeface="Sorts Mill Goudy" pitchFamily="34" charset="-122"/>
                <a:cs typeface="Sorts Mill Goudy" pitchFamily="34" charset="-120"/>
              </a:rPr>
              <a:t>7</a:t>
            </a:r>
            <a:endParaRPr lang="en-US" sz="1600" dirty="0"/>
          </a:p>
        </p:txBody>
      </p:sp>
      <p:sp>
        <p:nvSpPr>
          <p:cNvPr id="31" name="Text 29"/>
          <p:cNvSpPr/>
          <p:nvPr/>
        </p:nvSpPr>
        <p:spPr>
          <a:xfrm>
            <a:off x="953021" y="5591175"/>
            <a:ext cx="108204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Conclusions</a:t>
            </a:r>
            <a:endParaRPr lang="en-US" sz="1600" dirty="0"/>
          </a:p>
        </p:txBody>
      </p:sp>
      <p:sp>
        <p:nvSpPr>
          <p:cNvPr id="32" name="Text 30"/>
          <p:cNvSpPr/>
          <p:nvPr/>
        </p:nvSpPr>
        <p:spPr>
          <a:xfrm>
            <a:off x="953021" y="5972175"/>
            <a:ext cx="107823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Summary of findings and implications</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4572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3" name="Text 1"/>
          <p:cNvSpPr/>
          <p:nvPr/>
        </p:nvSpPr>
        <p:spPr>
          <a:xfrm>
            <a:off x="323850" y="457200"/>
            <a:ext cx="571500" cy="4572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4" name="Text 2"/>
          <p:cNvSpPr/>
          <p:nvPr/>
        </p:nvSpPr>
        <p:spPr>
          <a:xfrm>
            <a:off x="952500" y="381000"/>
            <a:ext cx="3009900" cy="228600"/>
          </a:xfrm>
          <a:prstGeom prst="rect">
            <a:avLst/>
          </a:prstGeom>
          <a:noFill/>
          <a:ln/>
        </p:spPr>
        <p:txBody>
          <a:bodyPr wrap="square" lIns="0" tIns="0" rIns="0" bIns="0" rtlCol="0" anchor="ctr"/>
          <a:lstStyle/>
          <a:p>
            <a:pPr>
              <a:lnSpc>
                <a:spcPct val="130000"/>
              </a:lnSpc>
            </a:pPr>
            <a:r>
              <a:rPr lang="en-US" sz="1200" b="1" spc="60" kern="0" dirty="0">
                <a:solidFill>
                  <a:srgbClr val="8B0000"/>
                </a:solidFill>
                <a:latin typeface="Sorts Mill Goudy" pitchFamily="34" charset="0"/>
                <a:ea typeface="Sorts Mill Goudy" pitchFamily="34" charset="-122"/>
                <a:cs typeface="Sorts Mill Goudy" pitchFamily="34" charset="-120"/>
              </a:rPr>
              <a:t>INTRODUCTION</a:t>
            </a:r>
            <a:endParaRPr lang="en-US" sz="1600" dirty="0"/>
          </a:p>
        </p:txBody>
      </p:sp>
      <p:sp>
        <p:nvSpPr>
          <p:cNvPr id="5" name="Text 3"/>
          <p:cNvSpPr/>
          <p:nvPr/>
        </p:nvSpPr>
        <p:spPr>
          <a:xfrm>
            <a:off x="952500" y="609600"/>
            <a:ext cx="31051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Research Questions</a:t>
            </a:r>
            <a:endParaRPr lang="en-US" sz="1600" dirty="0"/>
          </a:p>
        </p:txBody>
      </p:sp>
      <p:sp>
        <p:nvSpPr>
          <p:cNvPr id="6" name="Shape 4"/>
          <p:cNvSpPr/>
          <p:nvPr/>
        </p:nvSpPr>
        <p:spPr>
          <a:xfrm>
            <a:off x="400050" y="1295400"/>
            <a:ext cx="11410950" cy="1466850"/>
          </a:xfrm>
          <a:custGeom>
            <a:avLst/>
            <a:gdLst/>
            <a:ahLst/>
            <a:cxnLst/>
            <a:rect l="l" t="t" r="r" b="b"/>
            <a:pathLst>
              <a:path w="11410950" h="1466850">
                <a:moveTo>
                  <a:pt x="0" y="0"/>
                </a:moveTo>
                <a:lnTo>
                  <a:pt x="11410950" y="0"/>
                </a:lnTo>
                <a:lnTo>
                  <a:pt x="11410950" y="1466850"/>
                </a:lnTo>
                <a:lnTo>
                  <a:pt x="0" y="1466850"/>
                </a:lnTo>
                <a:lnTo>
                  <a:pt x="0" y="0"/>
                </a:lnTo>
                <a:close/>
              </a:path>
            </a:pathLst>
          </a:custGeom>
          <a:solidFill>
            <a:srgbClr val="F9FAFB"/>
          </a:solidFill>
          <a:ln/>
        </p:spPr>
      </p:sp>
      <p:sp>
        <p:nvSpPr>
          <p:cNvPr id="7" name="Shape 5"/>
          <p:cNvSpPr/>
          <p:nvPr/>
        </p:nvSpPr>
        <p:spPr>
          <a:xfrm>
            <a:off x="400050" y="1295400"/>
            <a:ext cx="38100" cy="1466850"/>
          </a:xfrm>
          <a:custGeom>
            <a:avLst/>
            <a:gdLst/>
            <a:ahLst/>
            <a:cxnLst/>
            <a:rect l="l" t="t" r="r" b="b"/>
            <a:pathLst>
              <a:path w="38100" h="1466850">
                <a:moveTo>
                  <a:pt x="0" y="0"/>
                </a:moveTo>
                <a:lnTo>
                  <a:pt x="38100" y="0"/>
                </a:lnTo>
                <a:lnTo>
                  <a:pt x="38100" y="1466850"/>
                </a:lnTo>
                <a:lnTo>
                  <a:pt x="0" y="1466850"/>
                </a:lnTo>
                <a:lnTo>
                  <a:pt x="0" y="0"/>
                </a:lnTo>
                <a:close/>
              </a:path>
            </a:pathLst>
          </a:custGeom>
          <a:solidFill>
            <a:srgbClr val="8B0000"/>
          </a:solidFill>
          <a:ln/>
        </p:spPr>
      </p:sp>
      <p:sp>
        <p:nvSpPr>
          <p:cNvPr id="8" name="Text 6"/>
          <p:cNvSpPr/>
          <p:nvPr/>
        </p:nvSpPr>
        <p:spPr>
          <a:xfrm>
            <a:off x="609600" y="1485900"/>
            <a:ext cx="11106150" cy="933450"/>
          </a:xfrm>
          <a:prstGeom prst="rect">
            <a:avLst/>
          </a:prstGeom>
          <a:noFill/>
          <a:ln/>
        </p:spPr>
        <p:txBody>
          <a:bodyPr wrap="square" lIns="0" tIns="0" rIns="0" bIns="0" rtlCol="0" anchor="ctr"/>
          <a:lstStyle/>
          <a:p>
            <a:pPr>
              <a:lnSpc>
                <a:spcPct val="140000"/>
              </a:lnSpc>
            </a:pPr>
            <a:r>
              <a:rPr lang="en-US" sz="1500" dirty="0">
                <a:solidFill>
                  <a:srgbClr val="1F2937"/>
                </a:solidFill>
                <a:latin typeface="Sorts Mill Goudy" pitchFamily="34" charset="0"/>
                <a:ea typeface="Sorts Mill Goudy" pitchFamily="34" charset="-122"/>
                <a:cs typeface="Sorts Mill Goudy" pitchFamily="34" charset="-120"/>
              </a:rPr>
              <a:t>Smartphone usage has become one of the most pervasive behavioral patterns of modern life. Whether for social media, work-related tasks, or entertainment, people spend an increasing share of their waking hours on their devices. At the same time, concerns about the impact of this usage on cognitive performance, stress, and sleep are widely discussed in both popular media and academic research.</a:t>
            </a:r>
            <a:endParaRPr lang="en-US" sz="1600" dirty="0"/>
          </a:p>
        </p:txBody>
      </p:sp>
      <p:sp>
        <p:nvSpPr>
          <p:cNvPr id="9" name="Shape 7"/>
          <p:cNvSpPr/>
          <p:nvPr/>
        </p:nvSpPr>
        <p:spPr>
          <a:xfrm>
            <a:off x="385763" y="2952750"/>
            <a:ext cx="5591175" cy="1409700"/>
          </a:xfrm>
          <a:custGeom>
            <a:avLst/>
            <a:gdLst/>
            <a:ahLst/>
            <a:cxnLst/>
            <a:rect l="l" t="t" r="r" b="b"/>
            <a:pathLst>
              <a:path w="5591175" h="1409700">
                <a:moveTo>
                  <a:pt x="0" y="0"/>
                </a:moveTo>
                <a:lnTo>
                  <a:pt x="5591175" y="0"/>
                </a:lnTo>
                <a:lnTo>
                  <a:pt x="5591175" y="1409700"/>
                </a:lnTo>
                <a:lnTo>
                  <a:pt x="0" y="1409700"/>
                </a:lnTo>
                <a:lnTo>
                  <a:pt x="0" y="0"/>
                </a:lnTo>
                <a:close/>
              </a:path>
            </a:pathLst>
          </a:custGeom>
          <a:solidFill>
            <a:srgbClr val="FFFFFF"/>
          </a:solidFill>
          <a:ln w="12700">
            <a:solidFill>
              <a:srgbClr val="E5E7EB"/>
            </a:solidFill>
            <a:prstDash val="solid"/>
          </a:ln>
        </p:spPr>
      </p:sp>
      <p:sp>
        <p:nvSpPr>
          <p:cNvPr id="10" name="Shape 8"/>
          <p:cNvSpPr/>
          <p:nvPr/>
        </p:nvSpPr>
        <p:spPr>
          <a:xfrm>
            <a:off x="619125" y="3157538"/>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42875" y="98227"/>
                </a:moveTo>
                <a:cubicBezTo>
                  <a:pt x="132997" y="98227"/>
                  <a:pt x="125016" y="106207"/>
                  <a:pt x="125016" y="116086"/>
                </a:cubicBezTo>
                <a:cubicBezTo>
                  <a:pt x="125016" y="123509"/>
                  <a:pt x="119044" y="129480"/>
                  <a:pt x="111621" y="129480"/>
                </a:cubicBezTo>
                <a:cubicBezTo>
                  <a:pt x="104198" y="129480"/>
                  <a:pt x="98227" y="123509"/>
                  <a:pt x="98227" y="116086"/>
                </a:cubicBezTo>
                <a:cubicBezTo>
                  <a:pt x="98227" y="91418"/>
                  <a:pt x="118207" y="71438"/>
                  <a:pt x="142875" y="71438"/>
                </a:cubicBezTo>
                <a:cubicBezTo>
                  <a:pt x="167543" y="71438"/>
                  <a:pt x="187523" y="91418"/>
                  <a:pt x="187523" y="116086"/>
                </a:cubicBezTo>
                <a:cubicBezTo>
                  <a:pt x="187523" y="142429"/>
                  <a:pt x="167432" y="153591"/>
                  <a:pt x="156270" y="157665"/>
                </a:cubicBezTo>
                <a:lnTo>
                  <a:pt x="156270" y="159786"/>
                </a:lnTo>
                <a:cubicBezTo>
                  <a:pt x="156270" y="167208"/>
                  <a:pt x="150298" y="173180"/>
                  <a:pt x="142875" y="173180"/>
                </a:cubicBezTo>
                <a:cubicBezTo>
                  <a:pt x="135452" y="173180"/>
                  <a:pt x="129480" y="167208"/>
                  <a:pt x="129480" y="159786"/>
                </a:cubicBezTo>
                <a:lnTo>
                  <a:pt x="129480" y="155265"/>
                </a:lnTo>
                <a:cubicBezTo>
                  <a:pt x="129480" y="143824"/>
                  <a:pt x="137740" y="135620"/>
                  <a:pt x="146279" y="132829"/>
                </a:cubicBezTo>
                <a:cubicBezTo>
                  <a:pt x="149851" y="131657"/>
                  <a:pt x="153646" y="129760"/>
                  <a:pt x="156437" y="127081"/>
                </a:cubicBezTo>
                <a:cubicBezTo>
                  <a:pt x="158837" y="124737"/>
                  <a:pt x="160734" y="121500"/>
                  <a:pt x="160734" y="116142"/>
                </a:cubicBezTo>
                <a:cubicBezTo>
                  <a:pt x="160734" y="106263"/>
                  <a:pt x="152753" y="98282"/>
                  <a:pt x="142875" y="98282"/>
                </a:cubicBezTo>
                <a:close/>
                <a:moveTo>
                  <a:pt x="125016" y="205383"/>
                </a:moveTo>
                <a:cubicBezTo>
                  <a:pt x="125016" y="195526"/>
                  <a:pt x="133018" y="187523"/>
                  <a:pt x="142875" y="187523"/>
                </a:cubicBezTo>
                <a:cubicBezTo>
                  <a:pt x="152732" y="187523"/>
                  <a:pt x="160734" y="195526"/>
                  <a:pt x="160734" y="205383"/>
                </a:cubicBezTo>
                <a:cubicBezTo>
                  <a:pt x="160734" y="215240"/>
                  <a:pt x="152732" y="223242"/>
                  <a:pt x="142875" y="223242"/>
                </a:cubicBezTo>
                <a:cubicBezTo>
                  <a:pt x="133018" y="223242"/>
                  <a:pt x="125016" y="215240"/>
                  <a:pt x="125016" y="205383"/>
                </a:cubicBezTo>
                <a:close/>
              </a:path>
            </a:pathLst>
          </a:custGeom>
          <a:solidFill>
            <a:srgbClr val="8B0000"/>
          </a:solidFill>
          <a:ln/>
        </p:spPr>
      </p:sp>
      <p:sp>
        <p:nvSpPr>
          <p:cNvPr id="11" name="Text 9"/>
          <p:cNvSpPr/>
          <p:nvPr/>
        </p:nvSpPr>
        <p:spPr>
          <a:xfrm>
            <a:off x="1052513" y="3148013"/>
            <a:ext cx="2105025"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Research Question 1</a:t>
            </a:r>
            <a:endParaRPr lang="en-US" sz="1600" dirty="0"/>
          </a:p>
        </p:txBody>
      </p:sp>
      <p:sp>
        <p:nvSpPr>
          <p:cNvPr id="12" name="Text 10"/>
          <p:cNvSpPr/>
          <p:nvPr/>
        </p:nvSpPr>
        <p:spPr>
          <a:xfrm>
            <a:off x="581025" y="3605213"/>
            <a:ext cx="5286375" cy="561975"/>
          </a:xfrm>
          <a:prstGeom prst="rect">
            <a:avLst/>
          </a:prstGeom>
          <a:noFill/>
          <a:ln/>
        </p:spPr>
        <p:txBody>
          <a:bodyPr wrap="square" lIns="0" tIns="0" rIns="0" bIns="0" rtlCol="0" anchor="ctr"/>
          <a:lstStyle/>
          <a:p>
            <a:pPr>
              <a:lnSpc>
                <a:spcPct val="140000"/>
              </a:lnSpc>
            </a:pPr>
            <a:r>
              <a:rPr lang="en-US" sz="1350" dirty="0">
                <a:solidFill>
                  <a:srgbClr val="1F2937"/>
                </a:solidFill>
                <a:latin typeface="Sorts Mill Goudy" pitchFamily="34" charset="0"/>
                <a:ea typeface="Sorts Mill Goudy" pitchFamily="34" charset="-122"/>
                <a:cs typeface="Sorts Mill Goudy" pitchFamily="34" charset="-120"/>
              </a:rPr>
              <a:t>Can we identify </a:t>
            </a:r>
            <a:pPr>
              <a:lnSpc>
                <a:spcPct val="140000"/>
              </a:lnSpc>
            </a:pPr>
            <a:r>
              <a:rPr lang="en-US" sz="1350" b="1" dirty="0">
                <a:solidFill>
                  <a:srgbClr val="1F2937"/>
                </a:solidFill>
                <a:latin typeface="Sorts Mill Goudy" pitchFamily="34" charset="0"/>
                <a:ea typeface="Sorts Mill Goudy" pitchFamily="34" charset="-122"/>
                <a:cs typeface="Sorts Mill Goudy" pitchFamily="34" charset="-120"/>
              </a:rPr>
              <a:t>distinct behavioral profiles</a:t>
            </a:r>
            <a:pPr>
              <a:lnSpc>
                <a:spcPct val="140000"/>
              </a:lnSpc>
            </a:pPr>
            <a:r>
              <a:rPr lang="en-US" sz="1350" dirty="0">
                <a:solidFill>
                  <a:srgbClr val="1F2937"/>
                </a:solidFill>
                <a:latin typeface="Sorts Mill Goudy" pitchFamily="34" charset="0"/>
                <a:ea typeface="Sorts Mill Goudy" pitchFamily="34" charset="-122"/>
                <a:cs typeface="Sorts Mill Goudy" pitchFamily="34" charset="-120"/>
              </a:rPr>
              <a:t> among smartphone users based on their usage patterns?</a:t>
            </a:r>
            <a:endParaRPr lang="en-US" sz="1600" dirty="0"/>
          </a:p>
        </p:txBody>
      </p:sp>
      <p:sp>
        <p:nvSpPr>
          <p:cNvPr id="13" name="Shape 11"/>
          <p:cNvSpPr/>
          <p:nvPr/>
        </p:nvSpPr>
        <p:spPr>
          <a:xfrm>
            <a:off x="6215063" y="2952750"/>
            <a:ext cx="5591175" cy="1409700"/>
          </a:xfrm>
          <a:custGeom>
            <a:avLst/>
            <a:gdLst/>
            <a:ahLst/>
            <a:cxnLst/>
            <a:rect l="l" t="t" r="r" b="b"/>
            <a:pathLst>
              <a:path w="5591175" h="1409700">
                <a:moveTo>
                  <a:pt x="0" y="0"/>
                </a:moveTo>
                <a:lnTo>
                  <a:pt x="5591175" y="0"/>
                </a:lnTo>
                <a:lnTo>
                  <a:pt x="5591175" y="1409700"/>
                </a:lnTo>
                <a:lnTo>
                  <a:pt x="0" y="1409700"/>
                </a:lnTo>
                <a:lnTo>
                  <a:pt x="0" y="0"/>
                </a:lnTo>
                <a:close/>
              </a:path>
            </a:pathLst>
          </a:custGeom>
          <a:solidFill>
            <a:srgbClr val="FFFFFF"/>
          </a:solidFill>
          <a:ln w="12700">
            <a:solidFill>
              <a:srgbClr val="E5E7EB"/>
            </a:solidFill>
            <a:prstDash val="solid"/>
          </a:ln>
        </p:spPr>
      </p:sp>
      <p:sp>
        <p:nvSpPr>
          <p:cNvPr id="14" name="Shape 12"/>
          <p:cNvSpPr/>
          <p:nvPr/>
        </p:nvSpPr>
        <p:spPr>
          <a:xfrm>
            <a:off x="6448425" y="3157538"/>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42875" y="98227"/>
                </a:moveTo>
                <a:cubicBezTo>
                  <a:pt x="132997" y="98227"/>
                  <a:pt x="125016" y="106207"/>
                  <a:pt x="125016" y="116086"/>
                </a:cubicBezTo>
                <a:cubicBezTo>
                  <a:pt x="125016" y="123509"/>
                  <a:pt x="119044" y="129480"/>
                  <a:pt x="111621" y="129480"/>
                </a:cubicBezTo>
                <a:cubicBezTo>
                  <a:pt x="104198" y="129480"/>
                  <a:pt x="98227" y="123509"/>
                  <a:pt x="98227" y="116086"/>
                </a:cubicBezTo>
                <a:cubicBezTo>
                  <a:pt x="98227" y="91418"/>
                  <a:pt x="118207" y="71438"/>
                  <a:pt x="142875" y="71438"/>
                </a:cubicBezTo>
                <a:cubicBezTo>
                  <a:pt x="167543" y="71438"/>
                  <a:pt x="187523" y="91418"/>
                  <a:pt x="187523" y="116086"/>
                </a:cubicBezTo>
                <a:cubicBezTo>
                  <a:pt x="187523" y="142429"/>
                  <a:pt x="167432" y="153591"/>
                  <a:pt x="156270" y="157665"/>
                </a:cubicBezTo>
                <a:lnTo>
                  <a:pt x="156270" y="159786"/>
                </a:lnTo>
                <a:cubicBezTo>
                  <a:pt x="156270" y="167208"/>
                  <a:pt x="150298" y="173180"/>
                  <a:pt x="142875" y="173180"/>
                </a:cubicBezTo>
                <a:cubicBezTo>
                  <a:pt x="135452" y="173180"/>
                  <a:pt x="129480" y="167208"/>
                  <a:pt x="129480" y="159786"/>
                </a:cubicBezTo>
                <a:lnTo>
                  <a:pt x="129480" y="155265"/>
                </a:lnTo>
                <a:cubicBezTo>
                  <a:pt x="129480" y="143824"/>
                  <a:pt x="137740" y="135620"/>
                  <a:pt x="146279" y="132829"/>
                </a:cubicBezTo>
                <a:cubicBezTo>
                  <a:pt x="149851" y="131657"/>
                  <a:pt x="153646" y="129760"/>
                  <a:pt x="156437" y="127081"/>
                </a:cubicBezTo>
                <a:cubicBezTo>
                  <a:pt x="158837" y="124737"/>
                  <a:pt x="160734" y="121500"/>
                  <a:pt x="160734" y="116142"/>
                </a:cubicBezTo>
                <a:cubicBezTo>
                  <a:pt x="160734" y="106263"/>
                  <a:pt x="152753" y="98282"/>
                  <a:pt x="142875" y="98282"/>
                </a:cubicBezTo>
                <a:close/>
                <a:moveTo>
                  <a:pt x="125016" y="205383"/>
                </a:moveTo>
                <a:cubicBezTo>
                  <a:pt x="125016" y="195526"/>
                  <a:pt x="133018" y="187523"/>
                  <a:pt x="142875" y="187523"/>
                </a:cubicBezTo>
                <a:cubicBezTo>
                  <a:pt x="152732" y="187523"/>
                  <a:pt x="160734" y="195526"/>
                  <a:pt x="160734" y="205383"/>
                </a:cubicBezTo>
                <a:cubicBezTo>
                  <a:pt x="160734" y="215240"/>
                  <a:pt x="152732" y="223242"/>
                  <a:pt x="142875" y="223242"/>
                </a:cubicBezTo>
                <a:cubicBezTo>
                  <a:pt x="133018" y="223242"/>
                  <a:pt x="125016" y="215240"/>
                  <a:pt x="125016" y="205383"/>
                </a:cubicBezTo>
                <a:close/>
              </a:path>
            </a:pathLst>
          </a:custGeom>
          <a:solidFill>
            <a:srgbClr val="8B0000"/>
          </a:solidFill>
          <a:ln/>
        </p:spPr>
      </p:sp>
      <p:sp>
        <p:nvSpPr>
          <p:cNvPr id="15" name="Text 13"/>
          <p:cNvSpPr/>
          <p:nvPr/>
        </p:nvSpPr>
        <p:spPr>
          <a:xfrm>
            <a:off x="6881813" y="3148013"/>
            <a:ext cx="2133600" cy="304800"/>
          </a:xfrm>
          <a:prstGeom prst="rect">
            <a:avLst/>
          </a:prstGeom>
          <a:noFill/>
          <a:ln/>
        </p:spPr>
        <p:txBody>
          <a:bodyPr wrap="square" lIns="0" tIns="0" rIns="0" bIns="0" rtlCol="0" anchor="ctr"/>
          <a:lstStyle/>
          <a:p>
            <a:pPr>
              <a:lnSpc>
                <a:spcPct val="110000"/>
              </a:lnSpc>
            </a:pPr>
            <a:r>
              <a:rPr lang="en-US" sz="1800" b="1" dirty="0">
                <a:solidFill>
                  <a:srgbClr val="1F2937"/>
                </a:solidFill>
                <a:latin typeface="Sorts Mill Goudy" pitchFamily="34" charset="0"/>
                <a:ea typeface="Sorts Mill Goudy" pitchFamily="34" charset="-122"/>
                <a:cs typeface="Sorts Mill Goudy" pitchFamily="34" charset="-120"/>
              </a:rPr>
              <a:t>Research Question 2</a:t>
            </a:r>
            <a:endParaRPr lang="en-US" sz="1600" dirty="0"/>
          </a:p>
        </p:txBody>
      </p:sp>
      <p:sp>
        <p:nvSpPr>
          <p:cNvPr id="16" name="Text 14"/>
          <p:cNvSpPr/>
          <p:nvPr/>
        </p:nvSpPr>
        <p:spPr>
          <a:xfrm>
            <a:off x="6410325" y="3605213"/>
            <a:ext cx="5286375" cy="561975"/>
          </a:xfrm>
          <a:prstGeom prst="rect">
            <a:avLst/>
          </a:prstGeom>
          <a:noFill/>
          <a:ln/>
        </p:spPr>
        <p:txBody>
          <a:bodyPr wrap="square" lIns="0" tIns="0" rIns="0" bIns="0" rtlCol="0" anchor="ctr"/>
          <a:lstStyle/>
          <a:p>
            <a:pPr>
              <a:lnSpc>
                <a:spcPct val="140000"/>
              </a:lnSpc>
            </a:pPr>
            <a:r>
              <a:rPr lang="en-US" sz="1350" dirty="0">
                <a:solidFill>
                  <a:srgbClr val="1F2937"/>
                </a:solidFill>
                <a:latin typeface="Sorts Mill Goudy" pitchFamily="34" charset="0"/>
                <a:ea typeface="Sorts Mill Goudy" pitchFamily="34" charset="-122"/>
                <a:cs typeface="Sorts Mill Goudy" pitchFamily="34" charset="-120"/>
              </a:rPr>
              <a:t>Does smartphone usage behavior relate to </a:t>
            </a:r>
            <a:pPr>
              <a:lnSpc>
                <a:spcPct val="140000"/>
              </a:lnSpc>
            </a:pPr>
            <a:r>
              <a:rPr lang="en-US" sz="1350" b="1" dirty="0">
                <a:solidFill>
                  <a:srgbClr val="1F2937"/>
                </a:solidFill>
                <a:latin typeface="Sorts Mill Goudy" pitchFamily="34" charset="0"/>
                <a:ea typeface="Sorts Mill Goudy" pitchFamily="34" charset="-122"/>
                <a:cs typeface="Sorts Mill Goudy" pitchFamily="34" charset="-120"/>
              </a:rPr>
              <a:t>work productivity and stress levels</a:t>
            </a:r>
            <a:pPr>
              <a:lnSpc>
                <a:spcPct val="140000"/>
              </a:lnSpc>
            </a:pPr>
            <a:r>
              <a:rPr lang="en-US" sz="1350" dirty="0">
                <a:solidFill>
                  <a:srgbClr val="1F2937"/>
                </a:solidFill>
                <a:latin typeface="Sorts Mill Goudy" pitchFamily="34" charset="0"/>
                <a:ea typeface="Sorts Mill Goudy" pitchFamily="34" charset="-122"/>
                <a:cs typeface="Sorts Mill Goudy" pitchFamily="34" charset="-120"/>
              </a:rPr>
              <a:t>, and if so, how well can these outcomes be predicted?</a:t>
            </a:r>
            <a:endParaRPr lang="en-US" sz="1600" dirty="0"/>
          </a:p>
        </p:txBody>
      </p:sp>
      <p:sp>
        <p:nvSpPr>
          <p:cNvPr id="17" name="Shape 15"/>
          <p:cNvSpPr/>
          <p:nvPr/>
        </p:nvSpPr>
        <p:spPr>
          <a:xfrm>
            <a:off x="381000" y="4552950"/>
            <a:ext cx="5600700" cy="1504950"/>
          </a:xfrm>
          <a:custGeom>
            <a:avLst/>
            <a:gdLst/>
            <a:ahLst/>
            <a:cxnLst/>
            <a:rect l="l" t="t" r="r" b="b"/>
            <a:pathLst>
              <a:path w="5600700" h="1504950">
                <a:moveTo>
                  <a:pt x="0" y="0"/>
                </a:moveTo>
                <a:lnTo>
                  <a:pt x="5600700" y="0"/>
                </a:lnTo>
                <a:lnTo>
                  <a:pt x="5600700" y="1504950"/>
                </a:lnTo>
                <a:lnTo>
                  <a:pt x="0" y="1504950"/>
                </a:lnTo>
                <a:lnTo>
                  <a:pt x="0" y="0"/>
                </a:lnTo>
                <a:close/>
              </a:path>
            </a:pathLst>
          </a:custGeom>
          <a:solidFill>
            <a:srgbClr val="F9FAFB"/>
          </a:solidFill>
          <a:ln/>
        </p:spPr>
      </p:sp>
      <p:sp>
        <p:nvSpPr>
          <p:cNvPr id="18" name="Shape 16"/>
          <p:cNvSpPr/>
          <p:nvPr/>
        </p:nvSpPr>
        <p:spPr>
          <a:xfrm>
            <a:off x="595313" y="4781550"/>
            <a:ext cx="190500" cy="190500"/>
          </a:xfrm>
          <a:custGeom>
            <a:avLst/>
            <a:gdLst/>
            <a:ahLst/>
            <a:cxnLst/>
            <a:rect l="l" t="t" r="r" b="b"/>
            <a:pathLst>
              <a:path w="190500" h="190500">
                <a:moveTo>
                  <a:pt x="0" y="29766"/>
                </a:moveTo>
                <a:cubicBezTo>
                  <a:pt x="0" y="19906"/>
                  <a:pt x="8000" y="11906"/>
                  <a:pt x="17859" y="11906"/>
                </a:cubicBezTo>
                <a:lnTo>
                  <a:pt x="53578" y="11906"/>
                </a:lnTo>
                <a:cubicBezTo>
                  <a:pt x="63438" y="11906"/>
                  <a:pt x="71438" y="19906"/>
                  <a:pt x="71438" y="29766"/>
                </a:cubicBezTo>
                <a:lnTo>
                  <a:pt x="71438" y="35719"/>
                </a:lnTo>
                <a:lnTo>
                  <a:pt x="119063" y="35719"/>
                </a:lnTo>
                <a:lnTo>
                  <a:pt x="119063" y="29766"/>
                </a:lnTo>
                <a:cubicBezTo>
                  <a:pt x="119063" y="19906"/>
                  <a:pt x="127062" y="11906"/>
                  <a:pt x="136922" y="11906"/>
                </a:cubicBezTo>
                <a:lnTo>
                  <a:pt x="172641" y="11906"/>
                </a:lnTo>
                <a:cubicBezTo>
                  <a:pt x="182500" y="11906"/>
                  <a:pt x="190500" y="19906"/>
                  <a:pt x="190500" y="29766"/>
                </a:cubicBezTo>
                <a:lnTo>
                  <a:pt x="190500" y="65484"/>
                </a:lnTo>
                <a:cubicBezTo>
                  <a:pt x="190500" y="75344"/>
                  <a:pt x="182500" y="83344"/>
                  <a:pt x="172641" y="83344"/>
                </a:cubicBezTo>
                <a:lnTo>
                  <a:pt x="136922" y="83344"/>
                </a:lnTo>
                <a:cubicBezTo>
                  <a:pt x="127062" y="83344"/>
                  <a:pt x="119063" y="75344"/>
                  <a:pt x="119063" y="65484"/>
                </a:cubicBezTo>
                <a:lnTo>
                  <a:pt x="119063" y="59531"/>
                </a:lnTo>
                <a:lnTo>
                  <a:pt x="71438" y="59531"/>
                </a:lnTo>
                <a:lnTo>
                  <a:pt x="71438" y="65484"/>
                </a:lnTo>
                <a:cubicBezTo>
                  <a:pt x="71438" y="68200"/>
                  <a:pt x="70805" y="70805"/>
                  <a:pt x="69726" y="73112"/>
                </a:cubicBezTo>
                <a:lnTo>
                  <a:pt x="95250" y="107156"/>
                </a:lnTo>
                <a:lnTo>
                  <a:pt x="125016" y="107156"/>
                </a:lnTo>
                <a:cubicBezTo>
                  <a:pt x="134875" y="107156"/>
                  <a:pt x="142875" y="115156"/>
                  <a:pt x="142875" y="125016"/>
                </a:cubicBezTo>
                <a:lnTo>
                  <a:pt x="142875" y="160734"/>
                </a:lnTo>
                <a:cubicBezTo>
                  <a:pt x="142875" y="170594"/>
                  <a:pt x="134875" y="178594"/>
                  <a:pt x="125016" y="178594"/>
                </a:cubicBezTo>
                <a:lnTo>
                  <a:pt x="89297" y="178594"/>
                </a:lnTo>
                <a:cubicBezTo>
                  <a:pt x="79437" y="178594"/>
                  <a:pt x="71438" y="170594"/>
                  <a:pt x="71438" y="160734"/>
                </a:cubicBezTo>
                <a:lnTo>
                  <a:pt x="71438" y="125016"/>
                </a:lnTo>
                <a:cubicBezTo>
                  <a:pt x="71438" y="122300"/>
                  <a:pt x="72070" y="119695"/>
                  <a:pt x="73149" y="117388"/>
                </a:cubicBezTo>
                <a:lnTo>
                  <a:pt x="47625" y="83344"/>
                </a:lnTo>
                <a:lnTo>
                  <a:pt x="17859" y="83344"/>
                </a:lnTo>
                <a:cubicBezTo>
                  <a:pt x="8000" y="83344"/>
                  <a:pt x="0" y="75344"/>
                  <a:pt x="0" y="65484"/>
                </a:cubicBezTo>
                <a:lnTo>
                  <a:pt x="0" y="29766"/>
                </a:lnTo>
                <a:close/>
              </a:path>
            </a:pathLst>
          </a:custGeom>
          <a:solidFill>
            <a:srgbClr val="8B0000"/>
          </a:solidFill>
          <a:ln/>
        </p:spPr>
      </p:sp>
      <p:sp>
        <p:nvSpPr>
          <p:cNvPr id="19" name="Text 17"/>
          <p:cNvSpPr/>
          <p:nvPr/>
        </p:nvSpPr>
        <p:spPr>
          <a:xfrm>
            <a:off x="809625" y="4743450"/>
            <a:ext cx="5076825" cy="266700"/>
          </a:xfrm>
          <a:prstGeom prst="rect">
            <a:avLst/>
          </a:prstGeom>
          <a:noFill/>
          <a:ln/>
        </p:spPr>
        <p:txBody>
          <a:bodyPr wrap="square" lIns="0" tIns="0" rIns="0" bIns="0" rtlCol="0" anchor="ctr"/>
          <a:lstStyle/>
          <a:p>
            <a:pPr>
              <a:lnSpc>
                <a:spcPct val="120000"/>
              </a:lnSpc>
            </a:pPr>
            <a:r>
              <a:rPr lang="en-US" sz="1500" b="1" dirty="0">
                <a:solidFill>
                  <a:srgbClr val="8B0000"/>
                </a:solidFill>
                <a:latin typeface="Sorts Mill Goudy" pitchFamily="34" charset="0"/>
                <a:ea typeface="Sorts Mill Goudy" pitchFamily="34" charset="-122"/>
                <a:cs typeface="Sorts Mill Goudy" pitchFamily="34" charset="-120"/>
              </a:rPr>
              <a:t>Unsupervised Analysis</a:t>
            </a:r>
            <a:endParaRPr lang="en-US" sz="1600" dirty="0"/>
          </a:p>
        </p:txBody>
      </p:sp>
      <p:sp>
        <p:nvSpPr>
          <p:cNvPr id="20" name="Text 18"/>
          <p:cNvSpPr/>
          <p:nvPr/>
        </p:nvSpPr>
        <p:spPr>
          <a:xfrm>
            <a:off x="571500" y="5124450"/>
            <a:ext cx="5295900" cy="495300"/>
          </a:xfrm>
          <a:prstGeom prst="rect">
            <a:avLst/>
          </a:prstGeom>
          <a:noFill/>
          <a:ln/>
        </p:spPr>
        <p:txBody>
          <a:bodyPr wrap="square" lIns="0" tIns="0" rIns="0" bIns="0" rtlCol="0" anchor="ctr"/>
          <a:lstStyle/>
          <a:p>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Principal Component Analysis (PCA)</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and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K-Means clustering</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to discover natural groupings in the data without predefined labels.</a:t>
            </a:r>
            <a:endParaRPr lang="en-US" sz="1600" dirty="0"/>
          </a:p>
        </p:txBody>
      </p:sp>
      <p:sp>
        <p:nvSpPr>
          <p:cNvPr id="21" name="Shape 19"/>
          <p:cNvSpPr/>
          <p:nvPr/>
        </p:nvSpPr>
        <p:spPr>
          <a:xfrm>
            <a:off x="6210300" y="4552950"/>
            <a:ext cx="5600700" cy="1504950"/>
          </a:xfrm>
          <a:custGeom>
            <a:avLst/>
            <a:gdLst/>
            <a:ahLst/>
            <a:cxnLst/>
            <a:rect l="l" t="t" r="r" b="b"/>
            <a:pathLst>
              <a:path w="5600700" h="1504950">
                <a:moveTo>
                  <a:pt x="0" y="0"/>
                </a:moveTo>
                <a:lnTo>
                  <a:pt x="5600700" y="0"/>
                </a:lnTo>
                <a:lnTo>
                  <a:pt x="5600700" y="1504950"/>
                </a:lnTo>
                <a:lnTo>
                  <a:pt x="0" y="1504950"/>
                </a:lnTo>
                <a:lnTo>
                  <a:pt x="0" y="0"/>
                </a:lnTo>
                <a:close/>
              </a:path>
            </a:pathLst>
          </a:custGeom>
          <a:solidFill>
            <a:srgbClr val="F9FAFB"/>
          </a:solidFill>
          <a:ln/>
        </p:spPr>
      </p:sp>
      <p:sp>
        <p:nvSpPr>
          <p:cNvPr id="22" name="Shape 20"/>
          <p:cNvSpPr/>
          <p:nvPr/>
        </p:nvSpPr>
        <p:spPr>
          <a:xfrm>
            <a:off x="6424613" y="478155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8B0000"/>
          </a:solidFill>
          <a:ln/>
        </p:spPr>
      </p:sp>
      <p:sp>
        <p:nvSpPr>
          <p:cNvPr id="23" name="Text 21"/>
          <p:cNvSpPr/>
          <p:nvPr/>
        </p:nvSpPr>
        <p:spPr>
          <a:xfrm>
            <a:off x="6638925" y="4743450"/>
            <a:ext cx="5076825" cy="266700"/>
          </a:xfrm>
          <a:prstGeom prst="rect">
            <a:avLst/>
          </a:prstGeom>
          <a:noFill/>
          <a:ln/>
        </p:spPr>
        <p:txBody>
          <a:bodyPr wrap="square" lIns="0" tIns="0" rIns="0" bIns="0" rtlCol="0" anchor="ctr"/>
          <a:lstStyle/>
          <a:p>
            <a:pPr>
              <a:lnSpc>
                <a:spcPct val="120000"/>
              </a:lnSpc>
            </a:pPr>
            <a:r>
              <a:rPr lang="en-US" sz="1500" b="1" dirty="0">
                <a:solidFill>
                  <a:srgbClr val="8B0000"/>
                </a:solidFill>
                <a:latin typeface="Sorts Mill Goudy" pitchFamily="34" charset="0"/>
                <a:ea typeface="Sorts Mill Goudy" pitchFamily="34" charset="-122"/>
                <a:cs typeface="Sorts Mill Goudy" pitchFamily="34" charset="-120"/>
              </a:rPr>
              <a:t>Supervised Analysis</a:t>
            </a:r>
            <a:endParaRPr lang="en-US" sz="1600" dirty="0"/>
          </a:p>
        </p:txBody>
      </p:sp>
      <p:sp>
        <p:nvSpPr>
          <p:cNvPr id="24" name="Text 22"/>
          <p:cNvSpPr/>
          <p:nvPr/>
        </p:nvSpPr>
        <p:spPr>
          <a:xfrm>
            <a:off x="6400800" y="5124450"/>
            <a:ext cx="5295900" cy="742950"/>
          </a:xfrm>
          <a:prstGeom prst="rect">
            <a:avLst/>
          </a:prstGeom>
          <a:noFill/>
          <a:ln/>
        </p:spPr>
        <p:txBody>
          <a:bodyPr wrap="square" lIns="0" tIns="0" rIns="0" bIns="0" rtlCol="0" anchor="ctr"/>
          <a:lstStyle/>
          <a:p>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Regression</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and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classification models</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to predict productivity scores and stress levels. Simple baseline compared against complex model to ensure model choice is justified by data.</a:t>
            </a:r>
            <a:endParaRPr lang="en-US" sz="1600" dirty="0"/>
          </a:p>
        </p:txBody>
      </p:sp>
      <p:sp>
        <p:nvSpPr>
          <p:cNvPr id="25" name="Text 23"/>
          <p:cNvSpPr/>
          <p:nvPr/>
        </p:nvSpPr>
        <p:spPr>
          <a:xfrm>
            <a:off x="381000" y="6248400"/>
            <a:ext cx="11506200"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Figure 1:</a:t>
            </a:r>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 Analytical framework combining unsupervised discovery and supervised prediction approaches.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75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3" name="Text 1"/>
          <p:cNvSpPr/>
          <p:nvPr/>
        </p:nvSpPr>
        <p:spPr>
          <a:xfrm>
            <a:off x="269875" y="381000"/>
            <a:ext cx="476250" cy="381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4" name="Text 2"/>
          <p:cNvSpPr/>
          <p:nvPr/>
        </p:nvSpPr>
        <p:spPr>
          <a:xfrm>
            <a:off x="793750" y="317500"/>
            <a:ext cx="1516063" cy="190500"/>
          </a:xfrm>
          <a:prstGeom prst="rect">
            <a:avLst/>
          </a:prstGeom>
          <a:noFill/>
          <a:ln/>
        </p:spPr>
        <p:txBody>
          <a:bodyPr wrap="square" lIns="0" tIns="0" rIns="0" bIns="0" rtlCol="0" anchor="ctr"/>
          <a:lstStyle/>
          <a:p>
            <a:pPr>
              <a:lnSpc>
                <a:spcPct val="130000"/>
              </a:lnSpc>
            </a:pPr>
            <a:r>
              <a:rPr lang="en-US" sz="1000" b="1" spc="50" kern="0" dirty="0">
                <a:solidFill>
                  <a:srgbClr val="8B0000"/>
                </a:solidFill>
                <a:latin typeface="Sorts Mill Goudy" pitchFamily="34" charset="0"/>
                <a:ea typeface="Sorts Mill Goudy" pitchFamily="34" charset="-122"/>
                <a:cs typeface="Sorts Mill Goudy" pitchFamily="34" charset="-120"/>
              </a:rPr>
              <a:t>DATASET</a:t>
            </a:r>
            <a:endParaRPr lang="en-US" sz="1600" dirty="0"/>
          </a:p>
        </p:txBody>
      </p:sp>
      <p:sp>
        <p:nvSpPr>
          <p:cNvPr id="5" name="Text 3"/>
          <p:cNvSpPr/>
          <p:nvPr/>
        </p:nvSpPr>
        <p:spPr>
          <a:xfrm>
            <a:off x="793750" y="508000"/>
            <a:ext cx="1595438"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Description</a:t>
            </a:r>
            <a:endParaRPr lang="en-US" sz="1600" dirty="0"/>
          </a:p>
        </p:txBody>
      </p:sp>
      <p:sp>
        <p:nvSpPr>
          <p:cNvPr id="6" name="Shape 4"/>
          <p:cNvSpPr/>
          <p:nvPr/>
        </p:nvSpPr>
        <p:spPr>
          <a:xfrm>
            <a:off x="317500" y="1016000"/>
            <a:ext cx="3722688" cy="1143000"/>
          </a:xfrm>
          <a:custGeom>
            <a:avLst/>
            <a:gdLst/>
            <a:ahLst/>
            <a:cxnLst/>
            <a:rect l="l" t="t" r="r" b="b"/>
            <a:pathLst>
              <a:path w="3722688" h="1143000">
                <a:moveTo>
                  <a:pt x="0" y="0"/>
                </a:moveTo>
                <a:lnTo>
                  <a:pt x="3722688" y="0"/>
                </a:lnTo>
                <a:lnTo>
                  <a:pt x="3722688" y="1143000"/>
                </a:lnTo>
                <a:lnTo>
                  <a:pt x="0" y="1143000"/>
                </a:lnTo>
                <a:lnTo>
                  <a:pt x="0" y="0"/>
                </a:lnTo>
                <a:close/>
              </a:path>
            </a:pathLst>
          </a:custGeom>
          <a:solidFill>
            <a:srgbClr val="8B0000"/>
          </a:solidFill>
          <a:ln/>
        </p:spPr>
      </p:sp>
      <p:sp>
        <p:nvSpPr>
          <p:cNvPr id="7" name="Text 5"/>
          <p:cNvSpPr/>
          <p:nvPr/>
        </p:nvSpPr>
        <p:spPr>
          <a:xfrm>
            <a:off x="388938" y="1206500"/>
            <a:ext cx="3579813" cy="476250"/>
          </a:xfrm>
          <a:prstGeom prst="rect">
            <a:avLst/>
          </a:prstGeom>
          <a:noFill/>
          <a:ln/>
        </p:spPr>
        <p:txBody>
          <a:bodyPr wrap="square" lIns="0" tIns="0" rIns="0" bIns="0" rtlCol="0" anchor="ctr"/>
          <a:lstStyle/>
          <a:p>
            <a:pPr algn="ctr">
              <a:lnSpc>
                <a:spcPct val="80000"/>
              </a:lnSpc>
            </a:pPr>
            <a:r>
              <a:rPr lang="en-US" sz="3750" b="1" dirty="0">
                <a:solidFill>
                  <a:srgbClr val="FFFFFF"/>
                </a:solidFill>
                <a:latin typeface="Sorts Mill Goudy" pitchFamily="34" charset="0"/>
                <a:ea typeface="Sorts Mill Goudy" pitchFamily="34" charset="-122"/>
                <a:cs typeface="Sorts Mill Goudy" pitchFamily="34" charset="-120"/>
              </a:rPr>
              <a:t>50,000</a:t>
            </a:r>
            <a:endParaRPr lang="en-US" sz="1600" dirty="0"/>
          </a:p>
        </p:txBody>
      </p:sp>
      <p:sp>
        <p:nvSpPr>
          <p:cNvPr id="8" name="Text 6"/>
          <p:cNvSpPr/>
          <p:nvPr/>
        </p:nvSpPr>
        <p:spPr>
          <a:xfrm>
            <a:off x="468313" y="1746250"/>
            <a:ext cx="3421063" cy="222250"/>
          </a:xfrm>
          <a:prstGeom prst="rect">
            <a:avLst/>
          </a:prstGeom>
          <a:noFill/>
          <a:ln/>
        </p:spPr>
        <p:txBody>
          <a:bodyPr wrap="square" lIns="0" tIns="0" rIns="0" bIns="0" rtlCol="0" anchor="ctr"/>
          <a:lstStyle/>
          <a:p>
            <a:pPr algn="ctr">
              <a:lnSpc>
                <a:spcPct val="120000"/>
              </a:lnSpc>
            </a:pPr>
            <a:r>
              <a:rPr lang="en-US" sz="1250" dirty="0">
                <a:solidFill>
                  <a:srgbClr val="FFFFFF"/>
                </a:solidFill>
                <a:latin typeface="Sorts Mill Goudy" pitchFamily="34" charset="0"/>
                <a:ea typeface="Sorts Mill Goudy" pitchFamily="34" charset="-122"/>
                <a:cs typeface="Sorts Mill Goudy" pitchFamily="34" charset="-120"/>
              </a:rPr>
              <a:t>Observations</a:t>
            </a:r>
            <a:endParaRPr lang="en-US" sz="1600" dirty="0"/>
          </a:p>
        </p:txBody>
      </p:sp>
      <p:sp>
        <p:nvSpPr>
          <p:cNvPr id="9" name="Shape 7"/>
          <p:cNvSpPr/>
          <p:nvPr/>
        </p:nvSpPr>
        <p:spPr>
          <a:xfrm>
            <a:off x="4233292" y="1016000"/>
            <a:ext cx="3722688" cy="1143000"/>
          </a:xfrm>
          <a:custGeom>
            <a:avLst/>
            <a:gdLst/>
            <a:ahLst/>
            <a:cxnLst/>
            <a:rect l="l" t="t" r="r" b="b"/>
            <a:pathLst>
              <a:path w="3722688" h="1143000">
                <a:moveTo>
                  <a:pt x="0" y="0"/>
                </a:moveTo>
                <a:lnTo>
                  <a:pt x="3722688" y="0"/>
                </a:lnTo>
                <a:lnTo>
                  <a:pt x="3722688" y="1143000"/>
                </a:lnTo>
                <a:lnTo>
                  <a:pt x="0" y="1143000"/>
                </a:lnTo>
                <a:lnTo>
                  <a:pt x="0" y="0"/>
                </a:lnTo>
                <a:close/>
              </a:path>
            </a:pathLst>
          </a:custGeom>
          <a:solidFill>
            <a:srgbClr val="1F2937"/>
          </a:solidFill>
          <a:ln/>
        </p:spPr>
      </p:sp>
      <p:sp>
        <p:nvSpPr>
          <p:cNvPr id="10" name="Text 8"/>
          <p:cNvSpPr/>
          <p:nvPr/>
        </p:nvSpPr>
        <p:spPr>
          <a:xfrm>
            <a:off x="4304729" y="1206500"/>
            <a:ext cx="3579813" cy="476250"/>
          </a:xfrm>
          <a:prstGeom prst="rect">
            <a:avLst/>
          </a:prstGeom>
          <a:noFill/>
          <a:ln/>
        </p:spPr>
        <p:txBody>
          <a:bodyPr wrap="square" lIns="0" tIns="0" rIns="0" bIns="0" rtlCol="0" anchor="ctr"/>
          <a:lstStyle/>
          <a:p>
            <a:pPr algn="ctr">
              <a:lnSpc>
                <a:spcPct val="80000"/>
              </a:lnSpc>
            </a:pPr>
            <a:r>
              <a:rPr lang="en-US" sz="3750" b="1" dirty="0">
                <a:solidFill>
                  <a:srgbClr val="FFFFFF"/>
                </a:solidFill>
                <a:latin typeface="Sorts Mill Goudy" pitchFamily="34" charset="0"/>
                <a:ea typeface="Sorts Mill Goudy" pitchFamily="34" charset="-122"/>
                <a:cs typeface="Sorts Mill Goudy" pitchFamily="34" charset="-120"/>
              </a:rPr>
              <a:t>13</a:t>
            </a:r>
            <a:endParaRPr lang="en-US" sz="1600" dirty="0"/>
          </a:p>
        </p:txBody>
      </p:sp>
      <p:sp>
        <p:nvSpPr>
          <p:cNvPr id="11" name="Text 9"/>
          <p:cNvSpPr/>
          <p:nvPr/>
        </p:nvSpPr>
        <p:spPr>
          <a:xfrm>
            <a:off x="4384104" y="1746250"/>
            <a:ext cx="3421063" cy="222250"/>
          </a:xfrm>
          <a:prstGeom prst="rect">
            <a:avLst/>
          </a:prstGeom>
          <a:noFill/>
          <a:ln/>
        </p:spPr>
        <p:txBody>
          <a:bodyPr wrap="square" lIns="0" tIns="0" rIns="0" bIns="0" rtlCol="0" anchor="ctr"/>
          <a:lstStyle/>
          <a:p>
            <a:pPr algn="ctr">
              <a:lnSpc>
                <a:spcPct val="120000"/>
              </a:lnSpc>
            </a:pPr>
            <a:r>
              <a:rPr lang="en-US" sz="1250" dirty="0">
                <a:solidFill>
                  <a:srgbClr val="FFFFFF"/>
                </a:solidFill>
                <a:latin typeface="Sorts Mill Goudy" pitchFamily="34" charset="0"/>
                <a:ea typeface="Sorts Mill Goudy" pitchFamily="34" charset="-122"/>
                <a:cs typeface="Sorts Mill Goudy" pitchFamily="34" charset="-120"/>
              </a:rPr>
              <a:t>Variables</a:t>
            </a:r>
            <a:endParaRPr lang="en-US" sz="1600" dirty="0"/>
          </a:p>
        </p:txBody>
      </p:sp>
      <p:sp>
        <p:nvSpPr>
          <p:cNvPr id="12" name="Shape 10"/>
          <p:cNvSpPr/>
          <p:nvPr/>
        </p:nvSpPr>
        <p:spPr>
          <a:xfrm>
            <a:off x="8149146" y="1016000"/>
            <a:ext cx="3722688" cy="1143000"/>
          </a:xfrm>
          <a:custGeom>
            <a:avLst/>
            <a:gdLst/>
            <a:ahLst/>
            <a:cxnLst/>
            <a:rect l="l" t="t" r="r" b="b"/>
            <a:pathLst>
              <a:path w="3722688" h="1143000">
                <a:moveTo>
                  <a:pt x="0" y="0"/>
                </a:moveTo>
                <a:lnTo>
                  <a:pt x="3722688" y="0"/>
                </a:lnTo>
                <a:lnTo>
                  <a:pt x="3722688" y="1143000"/>
                </a:lnTo>
                <a:lnTo>
                  <a:pt x="0" y="1143000"/>
                </a:lnTo>
                <a:lnTo>
                  <a:pt x="0" y="0"/>
                </a:lnTo>
                <a:close/>
              </a:path>
            </a:pathLst>
          </a:custGeom>
          <a:solidFill>
            <a:srgbClr val="6B7280"/>
          </a:solidFill>
          <a:ln/>
        </p:spPr>
      </p:sp>
      <p:sp>
        <p:nvSpPr>
          <p:cNvPr id="13" name="Text 11"/>
          <p:cNvSpPr/>
          <p:nvPr/>
        </p:nvSpPr>
        <p:spPr>
          <a:xfrm>
            <a:off x="8220583" y="1206500"/>
            <a:ext cx="3579813" cy="476250"/>
          </a:xfrm>
          <a:prstGeom prst="rect">
            <a:avLst/>
          </a:prstGeom>
          <a:noFill/>
          <a:ln/>
        </p:spPr>
        <p:txBody>
          <a:bodyPr wrap="square" lIns="0" tIns="0" rIns="0" bIns="0" rtlCol="0" anchor="ctr"/>
          <a:lstStyle/>
          <a:p>
            <a:pPr algn="ctr">
              <a:lnSpc>
                <a:spcPct val="80000"/>
              </a:lnSpc>
            </a:pPr>
            <a:r>
              <a:rPr lang="en-US" sz="3750" b="1" dirty="0">
                <a:solidFill>
                  <a:srgbClr val="FFFFFF"/>
                </a:solidFill>
                <a:latin typeface="Sorts Mill Goudy" pitchFamily="34" charset="0"/>
                <a:ea typeface="Sorts Mill Goudy" pitchFamily="34" charset="-122"/>
                <a:cs typeface="Sorts Mill Goudy" pitchFamily="34" charset="-120"/>
              </a:rPr>
              <a:t>0</a:t>
            </a:r>
            <a:endParaRPr lang="en-US" sz="1600" dirty="0"/>
          </a:p>
        </p:txBody>
      </p:sp>
      <p:sp>
        <p:nvSpPr>
          <p:cNvPr id="14" name="Text 12"/>
          <p:cNvSpPr/>
          <p:nvPr/>
        </p:nvSpPr>
        <p:spPr>
          <a:xfrm>
            <a:off x="8299958" y="1746250"/>
            <a:ext cx="3421063" cy="222250"/>
          </a:xfrm>
          <a:prstGeom prst="rect">
            <a:avLst/>
          </a:prstGeom>
          <a:noFill/>
          <a:ln/>
        </p:spPr>
        <p:txBody>
          <a:bodyPr wrap="square" lIns="0" tIns="0" rIns="0" bIns="0" rtlCol="0" anchor="ctr"/>
          <a:lstStyle/>
          <a:p>
            <a:pPr algn="ctr">
              <a:lnSpc>
                <a:spcPct val="120000"/>
              </a:lnSpc>
            </a:pPr>
            <a:r>
              <a:rPr lang="en-US" sz="1250" dirty="0">
                <a:solidFill>
                  <a:srgbClr val="FFFFFF"/>
                </a:solidFill>
                <a:latin typeface="Sorts Mill Goudy" pitchFamily="34" charset="0"/>
                <a:ea typeface="Sorts Mill Goudy" pitchFamily="34" charset="-122"/>
                <a:cs typeface="Sorts Mill Goudy" pitchFamily="34" charset="-120"/>
              </a:rPr>
              <a:t>Missing Values</a:t>
            </a:r>
            <a:endParaRPr lang="en-US" sz="1600" dirty="0"/>
          </a:p>
        </p:txBody>
      </p:sp>
      <p:sp>
        <p:nvSpPr>
          <p:cNvPr id="15" name="Shape 13"/>
          <p:cNvSpPr/>
          <p:nvPr/>
        </p:nvSpPr>
        <p:spPr>
          <a:xfrm>
            <a:off x="321469" y="2289969"/>
            <a:ext cx="11549063" cy="5230813"/>
          </a:xfrm>
          <a:custGeom>
            <a:avLst/>
            <a:gdLst/>
            <a:ahLst/>
            <a:cxnLst/>
            <a:rect l="l" t="t" r="r" b="b"/>
            <a:pathLst>
              <a:path w="11549063" h="5230813">
                <a:moveTo>
                  <a:pt x="0" y="0"/>
                </a:moveTo>
                <a:lnTo>
                  <a:pt x="11549063" y="0"/>
                </a:lnTo>
                <a:lnTo>
                  <a:pt x="11549063" y="5230813"/>
                </a:lnTo>
                <a:lnTo>
                  <a:pt x="0" y="5230813"/>
                </a:lnTo>
                <a:lnTo>
                  <a:pt x="0" y="0"/>
                </a:lnTo>
                <a:close/>
              </a:path>
            </a:pathLst>
          </a:custGeom>
          <a:solidFill>
            <a:srgbClr val="FFFFFF"/>
          </a:solidFill>
          <a:ln w="12700">
            <a:solidFill>
              <a:srgbClr val="E5E7EB"/>
            </a:solidFill>
            <a:prstDash val="solid"/>
          </a:ln>
        </p:spPr>
      </p:sp>
      <p:sp>
        <p:nvSpPr>
          <p:cNvPr id="16" name="Shape 14"/>
          <p:cNvSpPr/>
          <p:nvPr/>
        </p:nvSpPr>
        <p:spPr>
          <a:xfrm>
            <a:off x="325438" y="2293938"/>
            <a:ext cx="11541125" cy="412750"/>
          </a:xfrm>
          <a:custGeom>
            <a:avLst/>
            <a:gdLst/>
            <a:ahLst/>
            <a:cxnLst/>
            <a:rect l="l" t="t" r="r" b="b"/>
            <a:pathLst>
              <a:path w="11541125" h="412750">
                <a:moveTo>
                  <a:pt x="0" y="0"/>
                </a:moveTo>
                <a:lnTo>
                  <a:pt x="11541125" y="0"/>
                </a:lnTo>
                <a:lnTo>
                  <a:pt x="11541125" y="412750"/>
                </a:lnTo>
                <a:lnTo>
                  <a:pt x="0" y="412750"/>
                </a:lnTo>
                <a:lnTo>
                  <a:pt x="0" y="0"/>
                </a:lnTo>
                <a:close/>
              </a:path>
            </a:pathLst>
          </a:custGeom>
          <a:solidFill>
            <a:srgbClr val="8B0000"/>
          </a:solidFill>
          <a:ln/>
        </p:spPr>
      </p:sp>
      <p:sp>
        <p:nvSpPr>
          <p:cNvPr id="17" name="Text 15"/>
          <p:cNvSpPr/>
          <p:nvPr/>
        </p:nvSpPr>
        <p:spPr>
          <a:xfrm>
            <a:off x="420688" y="2389188"/>
            <a:ext cx="1143000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Table 1: Variable Descriptions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2438" y="2833688"/>
          <a:ext cx="11287125" cy="4556125"/>
        </p:xfrm>
        <a:graphic>
          <a:graphicData uri="http://schemas.openxmlformats.org/drawingml/2006/table">
            <a:tbl>
              <a:tblPr/>
              <a:tblGrid>
                <a:gridCol w="3770313"/>
                <a:gridCol w="1595438"/>
                <a:gridCol w="5921375"/>
              </a:tblGrid>
              <a:tr h="325438">
                <a:tc>
                  <a:txBody>
                    <a:bodyPr/>
                    <a:lstStyle/>
                    <a:p>
                      <a:pPr algn="l"/>
                      <a:r>
                        <a:rPr lang="en-US" sz="1000" b="1" u="none" dirty="0">
                          <a:solidFill>
                            <a:srgbClr val="1F2937"/>
                          </a:solidFill>
                          <a:latin typeface="微软雅黑" pitchFamily="34" charset="0"/>
                          <a:ea typeface="微软雅黑" pitchFamily="34" charset="-122"/>
                          <a:cs typeface="微软雅黑" pitchFamily="34" charset="-120"/>
                        </a:rPr>
                        <a:t>Variable</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1F2937"/>
                          </a:solidFill>
                          <a:latin typeface="微软雅黑" pitchFamily="34" charset="0"/>
                          <a:ea typeface="微软雅黑" pitchFamily="34" charset="-122"/>
                          <a:cs typeface="微软雅黑" pitchFamily="34" charset="-120"/>
                        </a:rPr>
                        <a:t>Type</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1F2937"/>
                          </a:solidFill>
                          <a:latin typeface="微软雅黑" pitchFamily="34" charset="0"/>
                          <a:ea typeface="微软雅黑" pitchFamily="34" charset="-122"/>
                          <a:cs typeface="微软雅黑" pitchFamily="34" charset="-120"/>
                        </a:rPr>
                        <a:t>Description</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User_ID</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Identifier</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Unique user code — excluded from analysis</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Age</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Numerical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Age (18–60)</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Gender</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Categorical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Male, Female, Other</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Occupation</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Categorical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Professional, Student, Business Owner, Freelancer</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Device_Type</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Categorical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Android or iOS</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Daily_Phone_Hours</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Numerical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Hours/day on phone</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Social_Media_Hours</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Numerical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Hours/day on social media</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b="1" u="none" dirty="0">
                          <a:solidFill>
                            <a:srgbClr val="1F2937"/>
                          </a:solidFill>
                          <a:latin typeface="微软雅黑" pitchFamily="34" charset="0"/>
                          <a:ea typeface="微软雅黑" pitchFamily="34" charset="-122"/>
                          <a:cs typeface="微软雅黑" pitchFamily="34" charset="-120"/>
                        </a:rPr>
                        <a:t>Work_Productivity_Score</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8B0000">
                        <a:alpha val="500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TARGET</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8B0000">
                        <a:alpha val="500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Self-reported productivity, 1–10</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8B0000">
                        <a:alpha val="500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Sleep_Hours</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Numerical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Average sleep hours/night</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b="1" u="none" dirty="0">
                          <a:solidFill>
                            <a:srgbClr val="1F2937"/>
                          </a:solidFill>
                          <a:latin typeface="微软雅黑" pitchFamily="34" charset="0"/>
                          <a:ea typeface="微软雅黑" pitchFamily="34" charset="-122"/>
                          <a:cs typeface="微软雅黑" pitchFamily="34" charset="-120"/>
                        </a:rPr>
                        <a:t>Stress_Level</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8B0000">
                        <a:alpha val="500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TARGET</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8B0000">
                        <a:alpha val="500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Self-reported stress, 1–10</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8B0000">
                        <a:alpha val="500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App_Usage_Count</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Numerical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Number of apps used/day</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Caffeine_Intake_Cups</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Numerical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Daily cups of coffee or tea</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25438">
                <a:tc>
                  <a:txBody>
                    <a:bodyPr/>
                    <a:lstStyle/>
                    <a:p>
                      <a:r>
                        <a:rPr lang="en-US" sz="800" u="none" dirty="0">
                          <a:solidFill>
                            <a:srgbClr val="1F2937"/>
                          </a:solidFill>
                          <a:latin typeface="微软雅黑" pitchFamily="34" charset="0"/>
                          <a:ea typeface="微软雅黑" pitchFamily="34" charset="-122"/>
                          <a:cs typeface="微软雅黑" pitchFamily="34" charset="-120"/>
                        </a:rPr>
                        <a:t>Weekend_Screen_Time_Hours</a:t>
                      </a:r>
                      <a:endParaRPr lang="en-US" sz="8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Numerical</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Screen time on weekends</a:t>
                      </a:r>
                      <a:endParaRPr lang="en-US" sz="1000" dirty="0">
                        <a:latin typeface="微软雅黑" charset="0"/>
                        <a:ea typeface="微软雅黑" charset="0"/>
                        <a:cs typeface="微软雅黑"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4572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3" name="Text 1"/>
          <p:cNvSpPr/>
          <p:nvPr/>
        </p:nvSpPr>
        <p:spPr>
          <a:xfrm>
            <a:off x="323850" y="457200"/>
            <a:ext cx="571500" cy="4572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Sorts Mill Goudy" pitchFamily="34" charset="0"/>
                <a:ea typeface="Sorts Mill Goudy" pitchFamily="34" charset="-122"/>
                <a:cs typeface="Sorts Mill Goudy" pitchFamily="34" charset="-120"/>
              </a:rPr>
              <a:t>3.1</a:t>
            </a:r>
            <a:endParaRPr lang="en-US" sz="1600" dirty="0"/>
          </a:p>
        </p:txBody>
      </p:sp>
      <p:sp>
        <p:nvSpPr>
          <p:cNvPr id="4" name="Text 2"/>
          <p:cNvSpPr/>
          <p:nvPr/>
        </p:nvSpPr>
        <p:spPr>
          <a:xfrm>
            <a:off x="952500" y="381000"/>
            <a:ext cx="4429125" cy="228600"/>
          </a:xfrm>
          <a:prstGeom prst="rect">
            <a:avLst/>
          </a:prstGeom>
          <a:noFill/>
          <a:ln/>
        </p:spPr>
        <p:txBody>
          <a:bodyPr wrap="square" lIns="0" tIns="0" rIns="0" bIns="0" rtlCol="0" anchor="ctr"/>
          <a:lstStyle/>
          <a:p>
            <a:pPr>
              <a:lnSpc>
                <a:spcPct val="130000"/>
              </a:lnSpc>
            </a:pPr>
            <a:r>
              <a:rPr lang="en-US" sz="1200" b="1" spc="60" kern="0" dirty="0">
                <a:solidFill>
                  <a:srgbClr val="8B0000"/>
                </a:solidFill>
                <a:latin typeface="Sorts Mill Goudy" pitchFamily="34" charset="0"/>
                <a:ea typeface="Sorts Mill Goudy" pitchFamily="34" charset="-122"/>
                <a:cs typeface="Sorts Mill Goudy" pitchFamily="34" charset="-120"/>
              </a:rPr>
              <a:t>EXPLORATORY DATA ANALYSIS</a:t>
            </a:r>
            <a:endParaRPr lang="en-US" sz="1600" dirty="0"/>
          </a:p>
        </p:txBody>
      </p:sp>
      <p:sp>
        <p:nvSpPr>
          <p:cNvPr id="5" name="Text 3"/>
          <p:cNvSpPr/>
          <p:nvPr/>
        </p:nvSpPr>
        <p:spPr>
          <a:xfrm>
            <a:off x="952500" y="609600"/>
            <a:ext cx="4524375"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Target Variable Distributions</a:t>
            </a:r>
            <a:endParaRPr lang="en-US" sz="1600" dirty="0"/>
          </a:p>
        </p:txBody>
      </p:sp>
      <p:sp>
        <p:nvSpPr>
          <p:cNvPr id="6" name="Shape 4"/>
          <p:cNvSpPr/>
          <p:nvPr/>
        </p:nvSpPr>
        <p:spPr>
          <a:xfrm>
            <a:off x="381000" y="1219200"/>
            <a:ext cx="5600700" cy="2209800"/>
          </a:xfrm>
          <a:custGeom>
            <a:avLst/>
            <a:gdLst/>
            <a:ahLst/>
            <a:cxnLst/>
            <a:rect l="l" t="t" r="r" b="b"/>
            <a:pathLst>
              <a:path w="5600700" h="2209800">
                <a:moveTo>
                  <a:pt x="0" y="0"/>
                </a:moveTo>
                <a:lnTo>
                  <a:pt x="5600700" y="0"/>
                </a:lnTo>
                <a:lnTo>
                  <a:pt x="5600700" y="2209800"/>
                </a:lnTo>
                <a:lnTo>
                  <a:pt x="0" y="2209800"/>
                </a:lnTo>
                <a:lnTo>
                  <a:pt x="0" y="0"/>
                </a:lnTo>
                <a:close/>
              </a:path>
            </a:pathLst>
          </a:custGeom>
          <a:solidFill>
            <a:srgbClr val="F9FAFB"/>
          </a:solidFill>
          <a:ln/>
        </p:spPr>
      </p:sp>
      <p:sp>
        <p:nvSpPr>
          <p:cNvPr id="7" name="Text 5"/>
          <p:cNvSpPr/>
          <p:nvPr/>
        </p:nvSpPr>
        <p:spPr>
          <a:xfrm>
            <a:off x="571500" y="1409700"/>
            <a:ext cx="5314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Descriptive Statistics</a:t>
            </a:r>
            <a:endParaRPr lang="en-US" sz="1600" dirty="0"/>
          </a:p>
        </p:txBody>
      </p:sp>
      <p:sp>
        <p:nvSpPr>
          <p:cNvPr id="8" name="Text 6"/>
          <p:cNvSpPr/>
          <p:nvPr/>
        </p:nvSpPr>
        <p:spPr>
          <a:xfrm>
            <a:off x="571500" y="17907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Sample Size:</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50,000 observations</a:t>
            </a:r>
            <a:endParaRPr lang="en-US" sz="1600" dirty="0"/>
          </a:p>
        </p:txBody>
      </p:sp>
      <p:sp>
        <p:nvSpPr>
          <p:cNvPr id="9" name="Text 7"/>
          <p:cNvSpPr/>
          <p:nvPr/>
        </p:nvSpPr>
        <p:spPr>
          <a:xfrm>
            <a:off x="571500" y="20955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Age Range:</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18–60 years</a:t>
            </a:r>
            <a:endParaRPr lang="en-US" sz="1600" dirty="0"/>
          </a:p>
        </p:txBody>
      </p:sp>
      <p:sp>
        <p:nvSpPr>
          <p:cNvPr id="10" name="Text 8"/>
          <p:cNvSpPr/>
          <p:nvPr/>
        </p:nvSpPr>
        <p:spPr>
          <a:xfrm>
            <a:off x="571500" y="24003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Mean Age:</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~39 years</a:t>
            </a:r>
            <a:endParaRPr lang="en-US" sz="1600" dirty="0"/>
          </a:p>
        </p:txBody>
      </p:sp>
      <p:sp>
        <p:nvSpPr>
          <p:cNvPr id="11" name="Text 9"/>
          <p:cNvSpPr/>
          <p:nvPr/>
        </p:nvSpPr>
        <p:spPr>
          <a:xfrm>
            <a:off x="571500" y="27051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Target Variables:</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Both distributed across full 1–10 range</a:t>
            </a:r>
            <a:endParaRPr lang="en-US" sz="1600" dirty="0"/>
          </a:p>
        </p:txBody>
      </p:sp>
      <p:sp>
        <p:nvSpPr>
          <p:cNvPr id="12" name="Text 10"/>
          <p:cNvSpPr/>
          <p:nvPr/>
        </p:nvSpPr>
        <p:spPr>
          <a:xfrm>
            <a:off x="571500" y="30099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Target Means:</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Close to 5.5, suggesting no heavy skew</a:t>
            </a:r>
            <a:endParaRPr lang="en-US" sz="1600" dirty="0"/>
          </a:p>
        </p:txBody>
      </p:sp>
      <p:sp>
        <p:nvSpPr>
          <p:cNvPr id="13" name="Shape 11"/>
          <p:cNvSpPr/>
          <p:nvPr/>
        </p:nvSpPr>
        <p:spPr>
          <a:xfrm>
            <a:off x="6229350" y="1219200"/>
            <a:ext cx="5581650" cy="2209800"/>
          </a:xfrm>
          <a:custGeom>
            <a:avLst/>
            <a:gdLst/>
            <a:ahLst/>
            <a:cxnLst/>
            <a:rect l="l" t="t" r="r" b="b"/>
            <a:pathLst>
              <a:path w="5581650" h="2209800">
                <a:moveTo>
                  <a:pt x="0" y="0"/>
                </a:moveTo>
                <a:lnTo>
                  <a:pt x="5581650" y="0"/>
                </a:lnTo>
                <a:lnTo>
                  <a:pt x="5581650" y="2209800"/>
                </a:lnTo>
                <a:lnTo>
                  <a:pt x="0" y="2209800"/>
                </a:lnTo>
                <a:lnTo>
                  <a:pt x="0" y="0"/>
                </a:lnTo>
                <a:close/>
              </a:path>
            </a:pathLst>
          </a:custGeom>
          <a:solidFill>
            <a:srgbClr val="8B0000">
              <a:alpha val="5098"/>
            </a:srgbClr>
          </a:solidFill>
          <a:ln/>
        </p:spPr>
      </p:sp>
      <p:sp>
        <p:nvSpPr>
          <p:cNvPr id="14" name="Shape 12"/>
          <p:cNvSpPr/>
          <p:nvPr/>
        </p:nvSpPr>
        <p:spPr>
          <a:xfrm>
            <a:off x="6229350" y="1219200"/>
            <a:ext cx="38100" cy="2209800"/>
          </a:xfrm>
          <a:custGeom>
            <a:avLst/>
            <a:gdLst/>
            <a:ahLst/>
            <a:cxnLst/>
            <a:rect l="l" t="t" r="r" b="b"/>
            <a:pathLst>
              <a:path w="38100" h="2209800">
                <a:moveTo>
                  <a:pt x="0" y="0"/>
                </a:moveTo>
                <a:lnTo>
                  <a:pt x="38100" y="0"/>
                </a:lnTo>
                <a:lnTo>
                  <a:pt x="38100" y="2209800"/>
                </a:lnTo>
                <a:lnTo>
                  <a:pt x="0" y="2209800"/>
                </a:lnTo>
                <a:lnTo>
                  <a:pt x="0" y="0"/>
                </a:lnTo>
                <a:close/>
              </a:path>
            </a:pathLst>
          </a:custGeom>
          <a:solidFill>
            <a:srgbClr val="8B0000"/>
          </a:solidFill>
          <a:ln/>
        </p:spPr>
      </p:sp>
      <p:sp>
        <p:nvSpPr>
          <p:cNvPr id="15" name="Text 13"/>
          <p:cNvSpPr/>
          <p:nvPr/>
        </p:nvSpPr>
        <p:spPr>
          <a:xfrm>
            <a:off x="6438900" y="1409700"/>
            <a:ext cx="5276850" cy="266700"/>
          </a:xfrm>
          <a:prstGeom prst="rect">
            <a:avLst/>
          </a:prstGeom>
          <a:noFill/>
          <a:ln/>
        </p:spPr>
        <p:txBody>
          <a:bodyPr wrap="square" lIns="0" tIns="0" rIns="0" bIns="0" rtlCol="0" anchor="ctr"/>
          <a:lstStyle/>
          <a:p>
            <a:pPr>
              <a:lnSpc>
                <a:spcPct val="120000"/>
              </a:lnSpc>
            </a:pPr>
            <a:r>
              <a:rPr lang="en-US" sz="1500" b="1" dirty="0">
                <a:solidFill>
                  <a:srgbClr val="8B0000"/>
                </a:solidFill>
                <a:latin typeface="Sorts Mill Goudy" pitchFamily="34" charset="0"/>
                <a:ea typeface="Sorts Mill Goudy" pitchFamily="34" charset="-122"/>
                <a:cs typeface="Sorts Mill Goudy" pitchFamily="34" charset="-120"/>
              </a:rPr>
              <a:t>Key Observation</a:t>
            </a:r>
            <a:endParaRPr lang="en-US" sz="1600" dirty="0"/>
          </a:p>
        </p:txBody>
      </p:sp>
      <p:sp>
        <p:nvSpPr>
          <p:cNvPr id="16" name="Text 14"/>
          <p:cNvSpPr/>
          <p:nvPr/>
        </p:nvSpPr>
        <p:spPr>
          <a:xfrm>
            <a:off x="6438900" y="1790700"/>
            <a:ext cx="5257800" cy="9906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Histograms of both target variables confirm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approximately uniform distributions</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across the 1–10 range. Each integer value appears with roughly equal frequency (around 5,000 observations), which is a strong indicator that the data was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synthetically generated</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with independently sampled outcomes.</a:t>
            </a:r>
            <a:endParaRPr lang="en-US" sz="1600" dirty="0"/>
          </a:p>
        </p:txBody>
      </p:sp>
      <p:sp>
        <p:nvSpPr>
          <p:cNvPr id="17" name="Shape 15"/>
          <p:cNvSpPr/>
          <p:nvPr/>
        </p:nvSpPr>
        <p:spPr>
          <a:xfrm>
            <a:off x="385763" y="3586163"/>
            <a:ext cx="5591175" cy="2276475"/>
          </a:xfrm>
          <a:custGeom>
            <a:avLst/>
            <a:gdLst/>
            <a:ahLst/>
            <a:cxnLst/>
            <a:rect l="l" t="t" r="r" b="b"/>
            <a:pathLst>
              <a:path w="5591175" h="2276475">
                <a:moveTo>
                  <a:pt x="0" y="0"/>
                </a:moveTo>
                <a:lnTo>
                  <a:pt x="5591175" y="0"/>
                </a:lnTo>
                <a:lnTo>
                  <a:pt x="5591175" y="2276475"/>
                </a:lnTo>
                <a:lnTo>
                  <a:pt x="0" y="2276475"/>
                </a:lnTo>
                <a:lnTo>
                  <a:pt x="0" y="0"/>
                </a:lnTo>
                <a:close/>
              </a:path>
            </a:pathLst>
          </a:custGeom>
          <a:solidFill>
            <a:srgbClr val="FFFFFF"/>
          </a:solidFill>
          <a:ln w="12700">
            <a:solidFill>
              <a:srgbClr val="E5E7EB"/>
            </a:solidFill>
            <a:prstDash val="solid"/>
          </a:ln>
        </p:spPr>
      </p:sp>
      <p:sp>
        <p:nvSpPr>
          <p:cNvPr id="18" name="Text 16"/>
          <p:cNvSpPr/>
          <p:nvPr/>
        </p:nvSpPr>
        <p:spPr>
          <a:xfrm>
            <a:off x="500063" y="3743325"/>
            <a:ext cx="5362575" cy="266700"/>
          </a:xfrm>
          <a:prstGeom prst="rect">
            <a:avLst/>
          </a:prstGeom>
          <a:noFill/>
          <a:ln/>
        </p:spPr>
        <p:txBody>
          <a:bodyPr wrap="square" lIns="0" tIns="0" rIns="0" bIns="0" rtlCol="0" anchor="ctr"/>
          <a:lstStyle/>
          <a:p>
            <a:pPr algn="ctr">
              <a:lnSpc>
                <a:spcPct val="130000"/>
              </a:lnSpc>
            </a:pPr>
            <a:r>
              <a:rPr lang="en-US" sz="1350" b="1" dirty="0">
                <a:solidFill>
                  <a:srgbClr val="1F2937"/>
                </a:solidFill>
                <a:latin typeface="Sorts Mill Goudy" pitchFamily="34" charset="0"/>
                <a:ea typeface="Sorts Mill Goudy" pitchFamily="34" charset="-122"/>
                <a:cs typeface="Sorts Mill Goudy" pitchFamily="34" charset="-120"/>
              </a:rPr>
              <a:t>Work Productivity Score</a:t>
            </a:r>
            <a:endParaRPr lang="en-US" sz="160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542925" y="4086225"/>
            <a:ext cx="5276850" cy="1847850"/>
          </a:xfrm>
          <a:prstGeom prst="roundRect">
            <a:avLst>
              <a:gd name="adj" fmla="val 0"/>
            </a:avLst>
          </a:prstGeom>
        </p:spPr>
      </p:pic>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542925" y="4086225"/>
            <a:ext cx="5276850" cy="1847850"/>
          </a:xfrm>
          <a:prstGeom prst="roundRect">
            <a:avLst>
              <a:gd name="adj" fmla="val 0"/>
            </a:avLst>
          </a:prstGeom>
        </p:spPr>
      </p:pic>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542925" y="4086225"/>
            <a:ext cx="5276850" cy="1847850"/>
          </a:xfrm>
          <a:prstGeom prst="roundRect">
            <a:avLst>
              <a:gd name="adj" fmla="val 0"/>
            </a:avLst>
          </a:prstGeom>
        </p:spPr>
      </p:pic>
      <p:sp>
        <p:nvSpPr>
          <p:cNvPr id="22" name="Shape 17"/>
          <p:cNvSpPr/>
          <p:nvPr/>
        </p:nvSpPr>
        <p:spPr>
          <a:xfrm>
            <a:off x="6215063" y="3586163"/>
            <a:ext cx="5591175" cy="2276475"/>
          </a:xfrm>
          <a:custGeom>
            <a:avLst/>
            <a:gdLst/>
            <a:ahLst/>
            <a:cxnLst/>
            <a:rect l="l" t="t" r="r" b="b"/>
            <a:pathLst>
              <a:path w="5591175" h="2276475">
                <a:moveTo>
                  <a:pt x="0" y="0"/>
                </a:moveTo>
                <a:lnTo>
                  <a:pt x="5591175" y="0"/>
                </a:lnTo>
                <a:lnTo>
                  <a:pt x="5591175" y="2276475"/>
                </a:lnTo>
                <a:lnTo>
                  <a:pt x="0" y="2276475"/>
                </a:lnTo>
                <a:lnTo>
                  <a:pt x="0" y="0"/>
                </a:lnTo>
                <a:close/>
              </a:path>
            </a:pathLst>
          </a:custGeom>
          <a:solidFill>
            <a:srgbClr val="FFFFFF"/>
          </a:solidFill>
          <a:ln w="12700">
            <a:solidFill>
              <a:srgbClr val="E5E7EB"/>
            </a:solidFill>
            <a:prstDash val="solid"/>
          </a:ln>
        </p:spPr>
      </p:sp>
      <p:sp>
        <p:nvSpPr>
          <p:cNvPr id="23" name="Text 18"/>
          <p:cNvSpPr/>
          <p:nvPr/>
        </p:nvSpPr>
        <p:spPr>
          <a:xfrm>
            <a:off x="6329363" y="3743325"/>
            <a:ext cx="5362575" cy="266700"/>
          </a:xfrm>
          <a:prstGeom prst="rect">
            <a:avLst/>
          </a:prstGeom>
          <a:noFill/>
          <a:ln/>
        </p:spPr>
        <p:txBody>
          <a:bodyPr wrap="square" lIns="0" tIns="0" rIns="0" bIns="0" rtlCol="0" anchor="ctr"/>
          <a:lstStyle/>
          <a:p>
            <a:pPr algn="ctr">
              <a:lnSpc>
                <a:spcPct val="130000"/>
              </a:lnSpc>
            </a:pPr>
            <a:r>
              <a:rPr lang="en-US" sz="1350" b="1" dirty="0">
                <a:solidFill>
                  <a:srgbClr val="1F2937"/>
                </a:solidFill>
                <a:latin typeface="Sorts Mill Goudy" pitchFamily="34" charset="0"/>
                <a:ea typeface="Sorts Mill Goudy" pitchFamily="34" charset="-122"/>
                <a:cs typeface="Sorts Mill Goudy" pitchFamily="34" charset="-120"/>
              </a:rPr>
              <a:t>Stress Level</a:t>
            </a:r>
            <a:endParaRPr lang="en-US" sz="1600" dirty="0"/>
          </a:p>
        </p:txBody>
      </p:sp>
      <p:pic>
        <p:nvPicPr>
          <p:cNvPr id="24" name="Image 3" descr="preencoded.png">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6372225" y="4086225"/>
            <a:ext cx="5276850" cy="1847850"/>
          </a:xfrm>
          <a:prstGeom prst="roundRect">
            <a:avLst>
              <a:gd name="adj" fmla="val 0"/>
            </a:avLst>
          </a:prstGeom>
        </p:spPr>
      </p:pic>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rcRect l="0" r="0" t="0" b="0"/>
          <a:stretch/>
        </p:blipFill>
        <p:spPr>
          <a:xfrm>
            <a:off x="6372225" y="4086225"/>
            <a:ext cx="5276850" cy="1847850"/>
          </a:xfrm>
          <a:prstGeom prst="roundRect">
            <a:avLst>
              <a:gd name="adj" fmla="val 0"/>
            </a:avLst>
          </a:prstGeom>
        </p:spPr>
      </p:pic>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6372225" y="4086225"/>
            <a:ext cx="5276850" cy="1847850"/>
          </a:xfrm>
          <a:prstGeom prst="roundRect">
            <a:avLst>
              <a:gd name="adj" fmla="val 0"/>
            </a:avLst>
          </a:prstGeom>
        </p:spPr>
      </p:pic>
      <p:sp>
        <p:nvSpPr>
          <p:cNvPr id="27" name="Text 19"/>
          <p:cNvSpPr/>
          <p:nvPr/>
        </p:nvSpPr>
        <p:spPr>
          <a:xfrm>
            <a:off x="381000" y="6019800"/>
            <a:ext cx="11506200" cy="4572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Figure 2:</a:t>
            </a:r>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 Histograms of Work Productivity Score (left) and Stress Level (right). Both variables are uniformly distributed across 1–10, each value appearing approximately 5,000 times.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39610" y="407532"/>
            <a:ext cx="407532" cy="407532"/>
          </a:xfrm>
          <a:custGeom>
            <a:avLst/>
            <a:gdLst/>
            <a:ahLst/>
            <a:cxnLst/>
            <a:rect l="l" t="t" r="r" b="b"/>
            <a:pathLst>
              <a:path w="407532" h="407532">
                <a:moveTo>
                  <a:pt x="0" y="0"/>
                </a:moveTo>
                <a:lnTo>
                  <a:pt x="407532" y="0"/>
                </a:lnTo>
                <a:lnTo>
                  <a:pt x="407532" y="407532"/>
                </a:lnTo>
                <a:lnTo>
                  <a:pt x="0" y="407532"/>
                </a:lnTo>
                <a:lnTo>
                  <a:pt x="0" y="0"/>
                </a:lnTo>
                <a:close/>
              </a:path>
            </a:pathLst>
          </a:custGeom>
          <a:solidFill>
            <a:srgbClr val="8B0000"/>
          </a:solidFill>
          <a:ln/>
        </p:spPr>
      </p:sp>
      <p:sp>
        <p:nvSpPr>
          <p:cNvPr id="3" name="Text 1"/>
          <p:cNvSpPr/>
          <p:nvPr/>
        </p:nvSpPr>
        <p:spPr>
          <a:xfrm>
            <a:off x="288669" y="407532"/>
            <a:ext cx="509415" cy="407532"/>
          </a:xfrm>
          <a:prstGeom prst="rect">
            <a:avLst/>
          </a:prstGeom>
          <a:noFill/>
          <a:ln/>
        </p:spPr>
        <p:txBody>
          <a:bodyPr wrap="square" lIns="0" tIns="0" rIns="0" bIns="0" rtlCol="0" anchor="ctr"/>
          <a:lstStyle/>
          <a:p>
            <a:pPr algn="ctr">
              <a:lnSpc>
                <a:spcPct val="110000"/>
              </a:lnSpc>
            </a:pPr>
            <a:r>
              <a:rPr lang="en-US" sz="1604" b="1" dirty="0">
                <a:solidFill>
                  <a:srgbClr val="FFFFFF"/>
                </a:solidFill>
                <a:latin typeface="Sorts Mill Goudy" pitchFamily="34" charset="0"/>
                <a:ea typeface="Sorts Mill Goudy" pitchFamily="34" charset="-122"/>
                <a:cs typeface="Sorts Mill Goudy" pitchFamily="34" charset="-120"/>
              </a:rPr>
              <a:t>3.2</a:t>
            </a:r>
            <a:endParaRPr lang="en-US" sz="1600" dirty="0"/>
          </a:p>
        </p:txBody>
      </p:sp>
      <p:sp>
        <p:nvSpPr>
          <p:cNvPr id="4" name="Text 2"/>
          <p:cNvSpPr/>
          <p:nvPr/>
        </p:nvSpPr>
        <p:spPr>
          <a:xfrm>
            <a:off x="849025" y="339610"/>
            <a:ext cx="2818763" cy="203766"/>
          </a:xfrm>
          <a:prstGeom prst="rect">
            <a:avLst/>
          </a:prstGeom>
          <a:noFill/>
          <a:ln/>
        </p:spPr>
        <p:txBody>
          <a:bodyPr wrap="square" lIns="0" tIns="0" rIns="0" bIns="0" rtlCol="0" anchor="ctr"/>
          <a:lstStyle/>
          <a:p>
            <a:pPr>
              <a:lnSpc>
                <a:spcPct val="130000"/>
              </a:lnSpc>
            </a:pPr>
            <a:r>
              <a:rPr lang="en-US" sz="1070" b="1" spc="53" kern="0" dirty="0">
                <a:solidFill>
                  <a:srgbClr val="8B0000"/>
                </a:solidFill>
                <a:latin typeface="Sorts Mill Goudy" pitchFamily="34" charset="0"/>
                <a:ea typeface="Sorts Mill Goudy" pitchFamily="34" charset="-122"/>
                <a:cs typeface="Sorts Mill Goudy" pitchFamily="34" charset="-120"/>
              </a:rPr>
              <a:t>EXPLORATORY DATA ANALYSIS</a:t>
            </a:r>
            <a:endParaRPr lang="en-US" sz="1600" dirty="0"/>
          </a:p>
        </p:txBody>
      </p:sp>
      <p:sp>
        <p:nvSpPr>
          <p:cNvPr id="5" name="Text 3"/>
          <p:cNvSpPr/>
          <p:nvPr/>
        </p:nvSpPr>
        <p:spPr>
          <a:xfrm>
            <a:off x="849025" y="543376"/>
            <a:ext cx="2903666" cy="339610"/>
          </a:xfrm>
          <a:prstGeom prst="rect">
            <a:avLst/>
          </a:prstGeom>
          <a:noFill/>
          <a:ln/>
        </p:spPr>
        <p:txBody>
          <a:bodyPr wrap="square" lIns="0" tIns="0" rIns="0" bIns="0" rtlCol="0" anchor="ctr"/>
          <a:lstStyle/>
          <a:p>
            <a:pPr>
              <a:lnSpc>
                <a:spcPct val="90000"/>
              </a:lnSpc>
            </a:pPr>
            <a:r>
              <a:rPr lang="en-US" sz="2407" b="1" dirty="0">
                <a:solidFill>
                  <a:srgbClr val="1F2937"/>
                </a:solidFill>
                <a:latin typeface="Sorts Mill Goudy" pitchFamily="34" charset="0"/>
                <a:ea typeface="Sorts Mill Goudy" pitchFamily="34" charset="-122"/>
                <a:cs typeface="Sorts Mill Goudy" pitchFamily="34" charset="-120"/>
              </a:rPr>
              <a:t>Correlation Analysis</a:t>
            </a:r>
            <a:endParaRPr lang="en-US" sz="1600" dirty="0"/>
          </a:p>
        </p:txBody>
      </p:sp>
      <p:sp>
        <p:nvSpPr>
          <p:cNvPr id="6" name="Shape 4"/>
          <p:cNvSpPr/>
          <p:nvPr/>
        </p:nvSpPr>
        <p:spPr>
          <a:xfrm>
            <a:off x="343855" y="1090997"/>
            <a:ext cx="6817671" cy="2827253"/>
          </a:xfrm>
          <a:custGeom>
            <a:avLst/>
            <a:gdLst/>
            <a:ahLst/>
            <a:cxnLst/>
            <a:rect l="l" t="t" r="r" b="b"/>
            <a:pathLst>
              <a:path w="6817671" h="2827253">
                <a:moveTo>
                  <a:pt x="0" y="0"/>
                </a:moveTo>
                <a:lnTo>
                  <a:pt x="6817671" y="0"/>
                </a:lnTo>
                <a:lnTo>
                  <a:pt x="6817671" y="2827253"/>
                </a:lnTo>
                <a:lnTo>
                  <a:pt x="0" y="2827253"/>
                </a:lnTo>
                <a:lnTo>
                  <a:pt x="0" y="0"/>
                </a:lnTo>
                <a:close/>
              </a:path>
            </a:pathLst>
          </a:custGeom>
          <a:solidFill>
            <a:srgbClr val="FFFFFF"/>
          </a:solidFill>
          <a:ln w="12700">
            <a:solidFill>
              <a:srgbClr val="E5E7EB"/>
            </a:solidFill>
            <a:prstDash val="solid"/>
          </a:ln>
        </p:spPr>
      </p:sp>
      <p:sp>
        <p:nvSpPr>
          <p:cNvPr id="7" name="Text 5"/>
          <p:cNvSpPr/>
          <p:nvPr/>
        </p:nvSpPr>
        <p:spPr>
          <a:xfrm>
            <a:off x="445738" y="1231086"/>
            <a:ext cx="6613905" cy="237727"/>
          </a:xfrm>
          <a:prstGeom prst="rect">
            <a:avLst/>
          </a:prstGeom>
          <a:noFill/>
          <a:ln/>
        </p:spPr>
        <p:txBody>
          <a:bodyPr wrap="square" lIns="0" tIns="0" rIns="0" bIns="0" rtlCol="0" anchor="ctr"/>
          <a:lstStyle/>
          <a:p>
            <a:pPr algn="ctr">
              <a:lnSpc>
                <a:spcPct val="130000"/>
              </a:lnSpc>
            </a:pPr>
            <a:r>
              <a:rPr lang="en-US" sz="1203" b="1" dirty="0">
                <a:solidFill>
                  <a:srgbClr val="1F2937"/>
                </a:solidFill>
                <a:latin typeface="Sorts Mill Goudy" pitchFamily="34" charset="0"/>
                <a:ea typeface="Sorts Mill Goudy" pitchFamily="34" charset="-122"/>
                <a:cs typeface="Sorts Mill Goudy" pitchFamily="34" charset="-120"/>
              </a:rPr>
              <a:t>Correlation Matrix — Numerical Variables</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483944" y="1536735"/>
            <a:ext cx="5739409" cy="2377270"/>
          </a:xfrm>
          <a:prstGeom prst="roundRect">
            <a:avLst>
              <a:gd name="adj" fmla="val 0"/>
            </a:avLst>
          </a:prstGeom>
        </p:spPr>
      </p:pic>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483944" y="1536735"/>
            <a:ext cx="5739409" cy="2377270"/>
          </a:xfrm>
          <a:prstGeom prst="roundRect">
            <a:avLst>
              <a:gd name="adj" fmla="val 0"/>
            </a:avLst>
          </a:prstGeom>
        </p:spPr>
      </p:pic>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483944" y="1536735"/>
            <a:ext cx="5739409" cy="2377270"/>
          </a:xfrm>
          <a:prstGeom prst="roundRect">
            <a:avLst>
              <a:gd name="adj" fmla="val 0"/>
            </a:avLst>
          </a:prstGeom>
        </p:spPr>
      </p:pic>
      <p:sp>
        <p:nvSpPr>
          <p:cNvPr id="11" name="Shape 6"/>
          <p:cNvSpPr/>
          <p:nvPr/>
        </p:nvSpPr>
        <p:spPr>
          <a:xfrm>
            <a:off x="7388707" y="1086752"/>
            <a:ext cx="4465872" cy="1018830"/>
          </a:xfrm>
          <a:custGeom>
            <a:avLst/>
            <a:gdLst/>
            <a:ahLst/>
            <a:cxnLst/>
            <a:rect l="l" t="t" r="r" b="b"/>
            <a:pathLst>
              <a:path w="4465872" h="1018830">
                <a:moveTo>
                  <a:pt x="0" y="0"/>
                </a:moveTo>
                <a:lnTo>
                  <a:pt x="4465872" y="0"/>
                </a:lnTo>
                <a:lnTo>
                  <a:pt x="4465872" y="1018830"/>
                </a:lnTo>
                <a:lnTo>
                  <a:pt x="0" y="1018830"/>
                </a:lnTo>
                <a:lnTo>
                  <a:pt x="0" y="0"/>
                </a:lnTo>
                <a:close/>
              </a:path>
            </a:pathLst>
          </a:custGeom>
          <a:solidFill>
            <a:srgbClr val="8B0000">
              <a:alpha val="5098"/>
            </a:srgbClr>
          </a:solidFill>
          <a:ln/>
        </p:spPr>
      </p:sp>
      <p:sp>
        <p:nvSpPr>
          <p:cNvPr id="12" name="Shape 7"/>
          <p:cNvSpPr/>
          <p:nvPr/>
        </p:nvSpPr>
        <p:spPr>
          <a:xfrm>
            <a:off x="7388707" y="1086752"/>
            <a:ext cx="33961" cy="1018830"/>
          </a:xfrm>
          <a:custGeom>
            <a:avLst/>
            <a:gdLst/>
            <a:ahLst/>
            <a:cxnLst/>
            <a:rect l="l" t="t" r="r" b="b"/>
            <a:pathLst>
              <a:path w="33961" h="1018830">
                <a:moveTo>
                  <a:pt x="0" y="0"/>
                </a:moveTo>
                <a:lnTo>
                  <a:pt x="33961" y="0"/>
                </a:lnTo>
                <a:lnTo>
                  <a:pt x="33961" y="1018830"/>
                </a:lnTo>
                <a:lnTo>
                  <a:pt x="0" y="1018830"/>
                </a:lnTo>
                <a:lnTo>
                  <a:pt x="0" y="0"/>
                </a:lnTo>
                <a:close/>
              </a:path>
            </a:pathLst>
          </a:custGeom>
          <a:solidFill>
            <a:srgbClr val="8B0000"/>
          </a:solidFill>
          <a:ln/>
        </p:spPr>
      </p:sp>
      <p:sp>
        <p:nvSpPr>
          <p:cNvPr id="13" name="Text 8"/>
          <p:cNvSpPr/>
          <p:nvPr/>
        </p:nvSpPr>
        <p:spPr>
          <a:xfrm>
            <a:off x="7541532" y="1222596"/>
            <a:ext cx="4253616" cy="237727"/>
          </a:xfrm>
          <a:prstGeom prst="rect">
            <a:avLst/>
          </a:prstGeom>
          <a:noFill/>
          <a:ln/>
        </p:spPr>
        <p:txBody>
          <a:bodyPr wrap="square" lIns="0" tIns="0" rIns="0" bIns="0" rtlCol="0" anchor="ctr"/>
          <a:lstStyle/>
          <a:p>
            <a:pPr>
              <a:lnSpc>
                <a:spcPct val="130000"/>
              </a:lnSpc>
            </a:pPr>
            <a:r>
              <a:rPr lang="en-US" sz="1203" b="1" dirty="0">
                <a:solidFill>
                  <a:srgbClr val="8B0000"/>
                </a:solidFill>
                <a:latin typeface="Sorts Mill Goudy" pitchFamily="34" charset="0"/>
                <a:ea typeface="Sorts Mill Goudy" pitchFamily="34" charset="-122"/>
                <a:cs typeface="Sorts Mill Goudy" pitchFamily="34" charset="-120"/>
              </a:rPr>
              <a:t>Critical Finding</a:t>
            </a:r>
            <a:endParaRPr lang="en-US" sz="1600" dirty="0"/>
          </a:p>
        </p:txBody>
      </p:sp>
      <p:sp>
        <p:nvSpPr>
          <p:cNvPr id="14" name="Text 9"/>
          <p:cNvSpPr/>
          <p:nvPr/>
        </p:nvSpPr>
        <p:spPr>
          <a:xfrm>
            <a:off x="7541532" y="1528245"/>
            <a:ext cx="4245125" cy="441493"/>
          </a:xfrm>
          <a:prstGeom prst="rect">
            <a:avLst/>
          </a:prstGeom>
          <a:noFill/>
          <a:ln/>
        </p:spPr>
        <p:txBody>
          <a:bodyPr wrap="square" lIns="0" tIns="0" rIns="0" bIns="0" rtlCol="0" anchor="ctr"/>
          <a:lstStyle/>
          <a:p>
            <a:pPr>
              <a:lnSpc>
                <a:spcPct val="140000"/>
              </a:lnSpc>
            </a:pPr>
            <a:r>
              <a:rPr lang="en-US" sz="1070" dirty="0">
                <a:solidFill>
                  <a:srgbClr val="1F2937"/>
                </a:solidFill>
                <a:latin typeface="Sorts Mill Goudy" pitchFamily="34" charset="0"/>
                <a:ea typeface="Sorts Mill Goudy" pitchFamily="34" charset="-122"/>
                <a:cs typeface="Sorts Mill Goudy" pitchFamily="34" charset="-120"/>
              </a:rPr>
              <a:t>A correlation matrix was computed for all nine numerical variables. All pairwise correlations are </a:t>
            </a:r>
            <a:pPr>
              <a:lnSpc>
                <a:spcPct val="140000"/>
              </a:lnSpc>
            </a:pPr>
            <a:r>
              <a:rPr lang="en-US" sz="1070" b="1" dirty="0">
                <a:solidFill>
                  <a:srgbClr val="1F2937"/>
                </a:solidFill>
                <a:latin typeface="Sorts Mill Goudy" pitchFamily="34" charset="0"/>
                <a:ea typeface="Sorts Mill Goudy" pitchFamily="34" charset="-122"/>
                <a:cs typeface="Sorts Mill Goudy" pitchFamily="34" charset="-120"/>
              </a:rPr>
              <a:t>extremely close to zero</a:t>
            </a:r>
            <a:pPr>
              <a:lnSpc>
                <a:spcPct val="140000"/>
              </a:lnSpc>
            </a:pPr>
            <a:r>
              <a:rPr lang="en-US" sz="1070" dirty="0">
                <a:solidFill>
                  <a:srgbClr val="1F2937"/>
                </a:solidFill>
                <a:latin typeface="Sorts Mill Goudy" pitchFamily="34" charset="0"/>
                <a:ea typeface="Sorts Mill Goudy" pitchFamily="34" charset="-122"/>
                <a:cs typeface="Sorts Mill Goudy" pitchFamily="34" charset="-120"/>
              </a:rPr>
              <a:t> (maximum ≈ 0.01).</a:t>
            </a:r>
            <a:endParaRPr lang="en-US" sz="1600" dirty="0"/>
          </a:p>
        </p:txBody>
      </p:sp>
      <p:sp>
        <p:nvSpPr>
          <p:cNvPr id="15" name="Shape 10"/>
          <p:cNvSpPr/>
          <p:nvPr/>
        </p:nvSpPr>
        <p:spPr>
          <a:xfrm>
            <a:off x="7371726" y="2241426"/>
            <a:ext cx="4482852" cy="1681070"/>
          </a:xfrm>
          <a:custGeom>
            <a:avLst/>
            <a:gdLst/>
            <a:ahLst/>
            <a:cxnLst/>
            <a:rect l="l" t="t" r="r" b="b"/>
            <a:pathLst>
              <a:path w="4482852" h="1681070">
                <a:moveTo>
                  <a:pt x="0" y="0"/>
                </a:moveTo>
                <a:lnTo>
                  <a:pt x="4482852" y="0"/>
                </a:lnTo>
                <a:lnTo>
                  <a:pt x="4482852" y="1681070"/>
                </a:lnTo>
                <a:lnTo>
                  <a:pt x="0" y="1681070"/>
                </a:lnTo>
                <a:lnTo>
                  <a:pt x="0" y="0"/>
                </a:lnTo>
                <a:close/>
              </a:path>
            </a:pathLst>
          </a:custGeom>
          <a:solidFill>
            <a:srgbClr val="F9FAFB"/>
          </a:solidFill>
          <a:ln/>
        </p:spPr>
      </p:sp>
      <p:sp>
        <p:nvSpPr>
          <p:cNvPr id="16" name="Text 11"/>
          <p:cNvSpPr/>
          <p:nvPr/>
        </p:nvSpPr>
        <p:spPr>
          <a:xfrm>
            <a:off x="7507571" y="2377270"/>
            <a:ext cx="4287577" cy="237727"/>
          </a:xfrm>
          <a:prstGeom prst="rect">
            <a:avLst/>
          </a:prstGeom>
          <a:noFill/>
          <a:ln/>
        </p:spPr>
        <p:txBody>
          <a:bodyPr wrap="square" lIns="0" tIns="0" rIns="0" bIns="0" rtlCol="0" anchor="ctr"/>
          <a:lstStyle/>
          <a:p>
            <a:pPr>
              <a:lnSpc>
                <a:spcPct val="130000"/>
              </a:lnSpc>
            </a:pPr>
            <a:r>
              <a:rPr lang="en-US" sz="1203" b="1" dirty="0">
                <a:solidFill>
                  <a:srgbClr val="1F2937"/>
                </a:solidFill>
                <a:latin typeface="Sorts Mill Goudy" pitchFamily="34" charset="0"/>
                <a:ea typeface="Sorts Mill Goudy" pitchFamily="34" charset="-122"/>
                <a:cs typeface="Sorts Mill Goudy" pitchFamily="34" charset="-120"/>
              </a:rPr>
              <a:t>Implications</a:t>
            </a:r>
            <a:endParaRPr lang="en-US" sz="1600" dirty="0"/>
          </a:p>
        </p:txBody>
      </p:sp>
      <p:sp>
        <p:nvSpPr>
          <p:cNvPr id="17" name="Text 12"/>
          <p:cNvSpPr/>
          <p:nvPr/>
        </p:nvSpPr>
        <p:spPr>
          <a:xfrm>
            <a:off x="7507571" y="2682919"/>
            <a:ext cx="4279086" cy="203766"/>
          </a:xfrm>
          <a:prstGeom prst="rect">
            <a:avLst/>
          </a:prstGeom>
          <a:noFill/>
          <a:ln/>
        </p:spPr>
        <p:txBody>
          <a:bodyPr wrap="square" lIns="0" tIns="0" rIns="0" bIns="0" rtlCol="0" anchor="ctr"/>
          <a:lstStyle/>
          <a:p>
            <a:pPr>
              <a:lnSpc>
                <a:spcPct val="130000"/>
              </a:lnSpc>
            </a:pPr>
            <a:r>
              <a:rPr lang="en-US" sz="1070" dirty="0">
                <a:solidFill>
                  <a:srgbClr val="1F2937"/>
                </a:solidFill>
                <a:latin typeface="Sorts Mill Goudy" pitchFamily="34" charset="0"/>
                <a:ea typeface="Sorts Mill Goudy" pitchFamily="34" charset="-122"/>
                <a:cs typeface="Sorts Mill Goudy" pitchFamily="34" charset="-120"/>
              </a:rPr>
              <a:t>• No linear relationship exists between any pair of variables</a:t>
            </a:r>
            <a:endParaRPr lang="en-US" sz="1600" dirty="0"/>
          </a:p>
        </p:txBody>
      </p:sp>
      <p:sp>
        <p:nvSpPr>
          <p:cNvPr id="18" name="Text 13"/>
          <p:cNvSpPr/>
          <p:nvPr/>
        </p:nvSpPr>
        <p:spPr>
          <a:xfrm>
            <a:off x="7507571" y="2954607"/>
            <a:ext cx="4279086" cy="203766"/>
          </a:xfrm>
          <a:prstGeom prst="rect">
            <a:avLst/>
          </a:prstGeom>
          <a:noFill/>
          <a:ln/>
        </p:spPr>
        <p:txBody>
          <a:bodyPr wrap="square" lIns="0" tIns="0" rIns="0" bIns="0" rtlCol="0" anchor="ctr"/>
          <a:lstStyle/>
          <a:p>
            <a:pPr>
              <a:lnSpc>
                <a:spcPct val="130000"/>
              </a:lnSpc>
            </a:pPr>
            <a:r>
              <a:rPr lang="en-US" sz="1070" dirty="0">
                <a:solidFill>
                  <a:srgbClr val="1F2937"/>
                </a:solidFill>
                <a:latin typeface="Sorts Mill Goudy" pitchFamily="34" charset="0"/>
                <a:ea typeface="Sorts Mill Goudy" pitchFamily="34" charset="-122"/>
                <a:cs typeface="Sorts Mill Goudy" pitchFamily="34" charset="-120"/>
              </a:rPr>
              <a:t>• Predictors and targets are uncorrelated</a:t>
            </a:r>
            <a:endParaRPr lang="en-US" sz="1600" dirty="0"/>
          </a:p>
        </p:txBody>
      </p:sp>
      <p:sp>
        <p:nvSpPr>
          <p:cNvPr id="19" name="Text 14"/>
          <p:cNvSpPr/>
          <p:nvPr/>
        </p:nvSpPr>
        <p:spPr>
          <a:xfrm>
            <a:off x="7507571" y="3226295"/>
            <a:ext cx="4279086" cy="203766"/>
          </a:xfrm>
          <a:prstGeom prst="rect">
            <a:avLst/>
          </a:prstGeom>
          <a:noFill/>
          <a:ln/>
        </p:spPr>
        <p:txBody>
          <a:bodyPr wrap="square" lIns="0" tIns="0" rIns="0" bIns="0" rtlCol="0" anchor="ctr"/>
          <a:lstStyle/>
          <a:p>
            <a:pPr>
              <a:lnSpc>
                <a:spcPct val="130000"/>
              </a:lnSpc>
            </a:pPr>
            <a:r>
              <a:rPr lang="en-US" sz="1070" dirty="0">
                <a:solidFill>
                  <a:srgbClr val="1F2937"/>
                </a:solidFill>
                <a:latin typeface="Sorts Mill Goudy" pitchFamily="34" charset="0"/>
                <a:ea typeface="Sorts Mill Goudy" pitchFamily="34" charset="-122"/>
                <a:cs typeface="Sorts Mill Goudy" pitchFamily="34" charset="-120"/>
              </a:rPr>
              <a:t>• Sets realistic expectations for supervised model performance</a:t>
            </a:r>
            <a:endParaRPr lang="en-US" sz="1600" dirty="0"/>
          </a:p>
        </p:txBody>
      </p:sp>
      <p:sp>
        <p:nvSpPr>
          <p:cNvPr id="20" name="Text 15"/>
          <p:cNvSpPr/>
          <p:nvPr/>
        </p:nvSpPr>
        <p:spPr>
          <a:xfrm>
            <a:off x="7507571" y="3497983"/>
            <a:ext cx="4279086" cy="203766"/>
          </a:xfrm>
          <a:prstGeom prst="rect">
            <a:avLst/>
          </a:prstGeom>
          <a:noFill/>
          <a:ln/>
        </p:spPr>
        <p:txBody>
          <a:bodyPr wrap="square" lIns="0" tIns="0" rIns="0" bIns="0" rtlCol="0" anchor="ctr"/>
          <a:lstStyle/>
          <a:p>
            <a:pPr>
              <a:lnSpc>
                <a:spcPct val="130000"/>
              </a:lnSpc>
            </a:pPr>
            <a:r>
              <a:rPr lang="en-US" sz="1070" dirty="0">
                <a:solidFill>
                  <a:srgbClr val="1F2937"/>
                </a:solidFill>
                <a:latin typeface="Sorts Mill Goudy" pitchFamily="34" charset="0"/>
                <a:ea typeface="Sorts Mill Goudy" pitchFamily="34" charset="-122"/>
                <a:cs typeface="Sorts Mill Goudy" pitchFamily="34" charset="-120"/>
              </a:rPr>
              <a:t>• Confirms synthetic data generation with independent variables</a:t>
            </a:r>
            <a:endParaRPr lang="en-US" sz="1600" dirty="0"/>
          </a:p>
        </p:txBody>
      </p:sp>
      <p:sp>
        <p:nvSpPr>
          <p:cNvPr id="21" name="Shape 16"/>
          <p:cNvSpPr/>
          <p:nvPr/>
        </p:nvSpPr>
        <p:spPr>
          <a:xfrm>
            <a:off x="343855" y="4062585"/>
            <a:ext cx="5646017" cy="1910306"/>
          </a:xfrm>
          <a:custGeom>
            <a:avLst/>
            <a:gdLst/>
            <a:ahLst/>
            <a:cxnLst/>
            <a:rect l="l" t="t" r="r" b="b"/>
            <a:pathLst>
              <a:path w="5646017" h="1910306">
                <a:moveTo>
                  <a:pt x="0" y="0"/>
                </a:moveTo>
                <a:lnTo>
                  <a:pt x="5646017" y="0"/>
                </a:lnTo>
                <a:lnTo>
                  <a:pt x="5646017" y="1910306"/>
                </a:lnTo>
                <a:lnTo>
                  <a:pt x="0" y="1910306"/>
                </a:lnTo>
                <a:lnTo>
                  <a:pt x="0" y="0"/>
                </a:lnTo>
                <a:close/>
              </a:path>
            </a:pathLst>
          </a:custGeom>
          <a:solidFill>
            <a:srgbClr val="FFFFFF"/>
          </a:solidFill>
          <a:ln w="12700">
            <a:solidFill>
              <a:srgbClr val="E5E7EB"/>
            </a:solidFill>
            <a:prstDash val="solid"/>
          </a:ln>
        </p:spPr>
      </p:sp>
      <p:sp>
        <p:nvSpPr>
          <p:cNvPr id="22" name="Text 17"/>
          <p:cNvSpPr/>
          <p:nvPr/>
        </p:nvSpPr>
        <p:spPr>
          <a:xfrm>
            <a:off x="449983" y="4202674"/>
            <a:ext cx="5433760" cy="203766"/>
          </a:xfrm>
          <a:prstGeom prst="rect">
            <a:avLst/>
          </a:prstGeom>
          <a:noFill/>
          <a:ln/>
        </p:spPr>
        <p:txBody>
          <a:bodyPr wrap="square" lIns="0" tIns="0" rIns="0" bIns="0" rtlCol="0" anchor="ctr"/>
          <a:lstStyle/>
          <a:p>
            <a:pPr algn="ctr">
              <a:lnSpc>
                <a:spcPct val="130000"/>
              </a:lnSpc>
            </a:pPr>
            <a:r>
              <a:rPr lang="en-US" sz="1070" b="1" dirty="0">
                <a:solidFill>
                  <a:srgbClr val="1F2937"/>
                </a:solidFill>
                <a:latin typeface="Sorts Mill Goudy" pitchFamily="34" charset="0"/>
                <a:ea typeface="Sorts Mill Goudy" pitchFamily="34" charset="-122"/>
                <a:cs typeface="Sorts Mill Goudy" pitchFamily="34" charset="-120"/>
              </a:rPr>
              <a:t>Phone Hours vs Productivity (by Occupation)</a:t>
            </a:r>
            <a:endParaRPr lang="en-US" sz="1600"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483944" y="4474362"/>
            <a:ext cx="4703599" cy="1358440"/>
          </a:xfrm>
          <a:prstGeom prst="roundRect">
            <a:avLst>
              <a:gd name="adj" fmla="val 0"/>
            </a:avLst>
          </a:prstGeom>
        </p:spPr>
      </p:pic>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rcRect l="0" r="0" t="0" b="0"/>
          <a:stretch/>
        </p:blipFill>
        <p:spPr>
          <a:xfrm>
            <a:off x="483944" y="4474362"/>
            <a:ext cx="4703599" cy="1358440"/>
          </a:xfrm>
          <a:prstGeom prst="roundRect">
            <a:avLst>
              <a:gd name="adj" fmla="val 0"/>
            </a:avLst>
          </a:prstGeom>
        </p:spPr>
      </p:pic>
      <p:pic>
        <p:nvPicPr>
          <p:cNvPr id="2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483944" y="4474362"/>
            <a:ext cx="4703599" cy="1358440"/>
          </a:xfrm>
          <a:prstGeom prst="roundRect">
            <a:avLst>
              <a:gd name="adj" fmla="val 0"/>
            </a:avLst>
          </a:prstGeom>
        </p:spPr>
      </p:pic>
      <p:sp>
        <p:nvSpPr>
          <p:cNvPr id="26" name="Shape 18"/>
          <p:cNvSpPr/>
          <p:nvPr/>
        </p:nvSpPr>
        <p:spPr>
          <a:xfrm>
            <a:off x="6203985" y="4062585"/>
            <a:ext cx="5646017" cy="1910306"/>
          </a:xfrm>
          <a:custGeom>
            <a:avLst/>
            <a:gdLst/>
            <a:ahLst/>
            <a:cxnLst/>
            <a:rect l="l" t="t" r="r" b="b"/>
            <a:pathLst>
              <a:path w="5646017" h="1910306">
                <a:moveTo>
                  <a:pt x="0" y="0"/>
                </a:moveTo>
                <a:lnTo>
                  <a:pt x="5646017" y="0"/>
                </a:lnTo>
                <a:lnTo>
                  <a:pt x="5646017" y="1910306"/>
                </a:lnTo>
                <a:lnTo>
                  <a:pt x="0" y="1910306"/>
                </a:lnTo>
                <a:lnTo>
                  <a:pt x="0" y="0"/>
                </a:lnTo>
                <a:close/>
              </a:path>
            </a:pathLst>
          </a:custGeom>
          <a:solidFill>
            <a:srgbClr val="FFFFFF"/>
          </a:solidFill>
          <a:ln w="12700">
            <a:solidFill>
              <a:srgbClr val="E5E7EB"/>
            </a:solidFill>
            <a:prstDash val="solid"/>
          </a:ln>
        </p:spPr>
      </p:sp>
      <p:sp>
        <p:nvSpPr>
          <p:cNvPr id="27" name="Text 19"/>
          <p:cNvSpPr/>
          <p:nvPr/>
        </p:nvSpPr>
        <p:spPr>
          <a:xfrm>
            <a:off x="6310114" y="4202674"/>
            <a:ext cx="5433760" cy="203766"/>
          </a:xfrm>
          <a:prstGeom prst="rect">
            <a:avLst/>
          </a:prstGeom>
          <a:noFill/>
          <a:ln/>
        </p:spPr>
        <p:txBody>
          <a:bodyPr wrap="square" lIns="0" tIns="0" rIns="0" bIns="0" rtlCol="0" anchor="ctr"/>
          <a:lstStyle/>
          <a:p>
            <a:pPr algn="ctr">
              <a:lnSpc>
                <a:spcPct val="130000"/>
              </a:lnSpc>
            </a:pPr>
            <a:r>
              <a:rPr lang="en-US" sz="1070" b="1" dirty="0">
                <a:solidFill>
                  <a:srgbClr val="1F2937"/>
                </a:solidFill>
                <a:latin typeface="Sorts Mill Goudy" pitchFamily="34" charset="0"/>
                <a:ea typeface="Sorts Mill Goudy" pitchFamily="34" charset="-122"/>
                <a:cs typeface="Sorts Mill Goudy" pitchFamily="34" charset="-120"/>
              </a:rPr>
              <a:t>Sleep Hours vs Stress (by Gender)</a:t>
            </a:r>
            <a:endParaRPr lang="en-US" sz="1600" dirty="0"/>
          </a:p>
        </p:txBody>
      </p:sp>
      <p:pic>
        <p:nvPicPr>
          <p:cNvPr id="28" name="Image 6" descr="preencoded.png">    </p:cNvPr>
          <p:cNvPicPr>
            <a:picLocks noChangeAspect="1"/>
          </p:cNvPicPr>
          <p:nvPr/>
        </p:nvPicPr>
        <p:blipFill>
          <a:blip r:embed="rId13">
            <a:extLst>
              <a:ext uri="{96DAC541-7B7A-43D3-8B79-37D633B846F1}">
                <asvg:svgBlip xmlns:asvg="http://schemas.microsoft.com/office/drawing/2016/SVG/main" r:embed="rId14"/>
              </a:ext>
            </a:extLst>
          </a:blip>
          <a:srcRect l="0" r="0" t="0" b="0"/>
          <a:stretch/>
        </p:blipFill>
        <p:spPr>
          <a:xfrm>
            <a:off x="6344075" y="4474362"/>
            <a:ext cx="4703599" cy="1358440"/>
          </a:xfrm>
          <a:prstGeom prst="roundRect">
            <a:avLst>
              <a:gd name="adj" fmla="val 0"/>
            </a:avLst>
          </a:prstGeom>
        </p:spPr>
      </p:pic>
      <p:pic>
        <p:nvPicPr>
          <p:cNvPr id="2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rcRect l="0" r="0" t="0" b="0"/>
          <a:stretch/>
        </p:blipFill>
        <p:spPr>
          <a:xfrm>
            <a:off x="6344075" y="4474362"/>
            <a:ext cx="4703599" cy="1358440"/>
          </a:xfrm>
          <a:prstGeom prst="roundRect">
            <a:avLst>
              <a:gd name="adj" fmla="val 0"/>
            </a:avLst>
          </a:prstGeom>
        </p:spPr>
      </p:pic>
      <p:pic>
        <p:nvPicPr>
          <p:cNvPr id="3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rcRect l="0" r="0" t="0" b="0"/>
          <a:stretch/>
        </p:blipFill>
        <p:spPr>
          <a:xfrm>
            <a:off x="6344075" y="4474362"/>
            <a:ext cx="4703599" cy="1358440"/>
          </a:xfrm>
          <a:prstGeom prst="roundRect">
            <a:avLst>
              <a:gd name="adj" fmla="val 0"/>
            </a:avLst>
          </a:prstGeom>
        </p:spPr>
      </p:pic>
      <p:sp>
        <p:nvSpPr>
          <p:cNvPr id="31" name="Text 20"/>
          <p:cNvSpPr/>
          <p:nvPr/>
        </p:nvSpPr>
        <p:spPr>
          <a:xfrm>
            <a:off x="339610" y="6112981"/>
            <a:ext cx="11580702" cy="407532"/>
          </a:xfrm>
          <a:prstGeom prst="rect">
            <a:avLst/>
          </a:prstGeom>
          <a:noFill/>
          <a:ln/>
        </p:spPr>
        <p:txBody>
          <a:bodyPr wrap="square" lIns="0" tIns="0" rIns="0" bIns="0" rtlCol="0" anchor="ctr"/>
          <a:lstStyle/>
          <a:p>
            <a:pPr>
              <a:lnSpc>
                <a:spcPct val="130000"/>
              </a:lnSpc>
            </a:pPr>
            <a:r>
              <a:rPr lang="en-US" sz="1070" b="1" dirty="0">
                <a:solidFill>
                  <a:srgbClr val="6B7280"/>
                </a:solidFill>
                <a:latin typeface="Sorts Mill Goudy" pitchFamily="34" charset="0"/>
                <a:ea typeface="Sorts Mill Goudy" pitchFamily="34" charset="-122"/>
                <a:cs typeface="Sorts Mill Goudy" pitchFamily="34" charset="-120"/>
              </a:rPr>
              <a:t>Figure 3:</a:t>
            </a:r>
            <a:pPr>
              <a:lnSpc>
                <a:spcPct val="130000"/>
              </a:lnSpc>
            </a:pPr>
            <a:r>
              <a:rPr lang="en-US" sz="1070" dirty="0">
                <a:solidFill>
                  <a:srgbClr val="6B7280"/>
                </a:solidFill>
                <a:latin typeface="Sorts Mill Goudy" pitchFamily="34" charset="0"/>
                <a:ea typeface="Sorts Mill Goudy" pitchFamily="34" charset="-122"/>
                <a:cs typeface="Sorts Mill Goudy" pitchFamily="34" charset="-120"/>
              </a:rPr>
              <a:t> Correlation matrix and scatterplots showing all pairwise correlations are near zero. All group regression lines are essentially flat and parallel, visually confirming the absence of linear relationships.</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4572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3" name="Text 1"/>
          <p:cNvSpPr/>
          <p:nvPr/>
        </p:nvSpPr>
        <p:spPr>
          <a:xfrm>
            <a:off x="323850" y="457200"/>
            <a:ext cx="571500" cy="4572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Sorts Mill Goudy" pitchFamily="34" charset="0"/>
                <a:ea typeface="Sorts Mill Goudy" pitchFamily="34" charset="-122"/>
                <a:cs typeface="Sorts Mill Goudy" pitchFamily="34" charset="-120"/>
              </a:rPr>
              <a:t>4.1</a:t>
            </a:r>
            <a:endParaRPr lang="en-US" sz="1600" dirty="0"/>
          </a:p>
        </p:txBody>
      </p:sp>
      <p:sp>
        <p:nvSpPr>
          <p:cNvPr id="4" name="Text 2"/>
          <p:cNvSpPr/>
          <p:nvPr/>
        </p:nvSpPr>
        <p:spPr>
          <a:xfrm>
            <a:off x="952500" y="381000"/>
            <a:ext cx="4619625" cy="228600"/>
          </a:xfrm>
          <a:prstGeom prst="rect">
            <a:avLst/>
          </a:prstGeom>
          <a:noFill/>
          <a:ln/>
        </p:spPr>
        <p:txBody>
          <a:bodyPr wrap="square" lIns="0" tIns="0" rIns="0" bIns="0" rtlCol="0" anchor="ctr"/>
          <a:lstStyle/>
          <a:p>
            <a:pPr>
              <a:lnSpc>
                <a:spcPct val="130000"/>
              </a:lnSpc>
            </a:pPr>
            <a:r>
              <a:rPr lang="en-US" sz="1200" b="1" spc="60" kern="0" dirty="0">
                <a:solidFill>
                  <a:srgbClr val="8B0000"/>
                </a:solidFill>
                <a:latin typeface="Sorts Mill Goudy" pitchFamily="34" charset="0"/>
                <a:ea typeface="Sorts Mill Goudy" pitchFamily="34" charset="-122"/>
                <a:cs typeface="Sorts Mill Goudy" pitchFamily="34" charset="-120"/>
              </a:rPr>
              <a:t>UNSUPERVISED ANALYSIS</a:t>
            </a:r>
            <a:endParaRPr lang="en-US" sz="1600" dirty="0"/>
          </a:p>
        </p:txBody>
      </p:sp>
      <p:sp>
        <p:nvSpPr>
          <p:cNvPr id="5" name="Text 3"/>
          <p:cNvSpPr/>
          <p:nvPr/>
        </p:nvSpPr>
        <p:spPr>
          <a:xfrm>
            <a:off x="952500" y="609600"/>
            <a:ext cx="4714875"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Principal Component Analysis</a:t>
            </a:r>
            <a:endParaRPr lang="en-US" sz="1600" dirty="0"/>
          </a:p>
        </p:txBody>
      </p:sp>
      <p:sp>
        <p:nvSpPr>
          <p:cNvPr id="6" name="Shape 4"/>
          <p:cNvSpPr/>
          <p:nvPr/>
        </p:nvSpPr>
        <p:spPr>
          <a:xfrm>
            <a:off x="381000" y="1219200"/>
            <a:ext cx="5600700" cy="1752600"/>
          </a:xfrm>
          <a:custGeom>
            <a:avLst/>
            <a:gdLst/>
            <a:ahLst/>
            <a:cxnLst/>
            <a:rect l="l" t="t" r="r" b="b"/>
            <a:pathLst>
              <a:path w="5600700" h="1752600">
                <a:moveTo>
                  <a:pt x="0" y="0"/>
                </a:moveTo>
                <a:lnTo>
                  <a:pt x="5600700" y="0"/>
                </a:lnTo>
                <a:lnTo>
                  <a:pt x="5600700" y="1752600"/>
                </a:lnTo>
                <a:lnTo>
                  <a:pt x="0" y="1752600"/>
                </a:lnTo>
                <a:lnTo>
                  <a:pt x="0" y="0"/>
                </a:lnTo>
                <a:close/>
              </a:path>
            </a:pathLst>
          </a:custGeom>
          <a:solidFill>
            <a:srgbClr val="F9FAFB"/>
          </a:solidFill>
          <a:ln/>
        </p:spPr>
      </p:sp>
      <p:sp>
        <p:nvSpPr>
          <p:cNvPr id="7" name="Text 5"/>
          <p:cNvSpPr/>
          <p:nvPr/>
        </p:nvSpPr>
        <p:spPr>
          <a:xfrm>
            <a:off x="571500" y="1409700"/>
            <a:ext cx="5314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Motivation</a:t>
            </a:r>
            <a:endParaRPr lang="en-US" sz="1600" dirty="0"/>
          </a:p>
        </p:txBody>
      </p:sp>
      <p:sp>
        <p:nvSpPr>
          <p:cNvPr id="8" name="Text 6"/>
          <p:cNvSpPr/>
          <p:nvPr/>
        </p:nvSpPr>
        <p:spPr>
          <a:xfrm>
            <a:off x="571500" y="1790700"/>
            <a:ext cx="5295900" cy="9906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unsupervised analysis aims to discover whether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natural groupings exist among users</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based on behavioral profiles, without imposing predefined labels.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K-Means clustering</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was chosen for its interpretability and efficiency on large datasets.</a:t>
            </a:r>
            <a:endParaRPr lang="en-US" sz="1600" dirty="0"/>
          </a:p>
        </p:txBody>
      </p:sp>
      <p:sp>
        <p:nvSpPr>
          <p:cNvPr id="9" name="Shape 7"/>
          <p:cNvSpPr/>
          <p:nvPr/>
        </p:nvSpPr>
        <p:spPr>
          <a:xfrm>
            <a:off x="6210300" y="1219200"/>
            <a:ext cx="5600700" cy="1752600"/>
          </a:xfrm>
          <a:custGeom>
            <a:avLst/>
            <a:gdLst/>
            <a:ahLst/>
            <a:cxnLst/>
            <a:rect l="l" t="t" r="r" b="b"/>
            <a:pathLst>
              <a:path w="5600700" h="1752600">
                <a:moveTo>
                  <a:pt x="0" y="0"/>
                </a:moveTo>
                <a:lnTo>
                  <a:pt x="5600700" y="0"/>
                </a:lnTo>
                <a:lnTo>
                  <a:pt x="5600700" y="1752600"/>
                </a:lnTo>
                <a:lnTo>
                  <a:pt x="0" y="1752600"/>
                </a:lnTo>
                <a:lnTo>
                  <a:pt x="0" y="0"/>
                </a:lnTo>
                <a:close/>
              </a:path>
            </a:pathLst>
          </a:custGeom>
          <a:solidFill>
            <a:srgbClr val="F9FAFB"/>
          </a:solidFill>
          <a:ln/>
        </p:spPr>
      </p:sp>
      <p:sp>
        <p:nvSpPr>
          <p:cNvPr id="10" name="Text 8"/>
          <p:cNvSpPr/>
          <p:nvPr/>
        </p:nvSpPr>
        <p:spPr>
          <a:xfrm>
            <a:off x="6400800" y="1409700"/>
            <a:ext cx="5314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Methodology</a:t>
            </a:r>
            <a:endParaRPr lang="en-US" sz="1600" dirty="0"/>
          </a:p>
        </p:txBody>
      </p:sp>
      <p:sp>
        <p:nvSpPr>
          <p:cNvPr id="11" name="Text 9"/>
          <p:cNvSpPr/>
          <p:nvPr/>
        </p:nvSpPr>
        <p:spPr>
          <a:xfrm>
            <a:off x="6400800" y="1790700"/>
            <a:ext cx="5295900" cy="7429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PCA was applied to reduce dimensionality before clustering. All variables were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standardized</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(mean = 0, sd = 1) beforehand — without this, variables with larger ranges would dominate components regardless of importance.</a:t>
            </a:r>
            <a:endParaRPr lang="en-US" sz="1600" dirty="0"/>
          </a:p>
        </p:txBody>
      </p:sp>
      <p:sp>
        <p:nvSpPr>
          <p:cNvPr id="12" name="Shape 10"/>
          <p:cNvSpPr/>
          <p:nvPr/>
        </p:nvSpPr>
        <p:spPr>
          <a:xfrm>
            <a:off x="385763" y="3128963"/>
            <a:ext cx="3648075" cy="1666875"/>
          </a:xfrm>
          <a:custGeom>
            <a:avLst/>
            <a:gdLst/>
            <a:ahLst/>
            <a:cxnLst/>
            <a:rect l="l" t="t" r="r" b="b"/>
            <a:pathLst>
              <a:path w="3648075" h="1666875">
                <a:moveTo>
                  <a:pt x="0" y="0"/>
                </a:moveTo>
                <a:lnTo>
                  <a:pt x="3648075" y="0"/>
                </a:lnTo>
                <a:lnTo>
                  <a:pt x="3648075" y="1666875"/>
                </a:lnTo>
                <a:lnTo>
                  <a:pt x="0" y="1666875"/>
                </a:lnTo>
                <a:lnTo>
                  <a:pt x="0" y="0"/>
                </a:lnTo>
                <a:close/>
              </a:path>
            </a:pathLst>
          </a:custGeom>
          <a:solidFill>
            <a:srgbClr val="FFFFFF"/>
          </a:solidFill>
          <a:ln w="12700">
            <a:solidFill>
              <a:srgbClr val="E5E7EB"/>
            </a:solidFill>
            <a:prstDash val="solid"/>
          </a:ln>
        </p:spPr>
      </p:sp>
      <p:sp>
        <p:nvSpPr>
          <p:cNvPr id="13" name="Text 11"/>
          <p:cNvSpPr/>
          <p:nvPr/>
        </p:nvSpPr>
        <p:spPr>
          <a:xfrm>
            <a:off x="504825" y="3286125"/>
            <a:ext cx="34099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Scree Plot — Variance Explained</a:t>
            </a:r>
            <a:endParaRPr lang="en-US" sz="1600" dirty="0"/>
          </a:p>
        </p:txBody>
      </p:sp>
      <p:pic>
        <p:nvPicPr>
          <p:cNvPr id="14"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542925" y="3590925"/>
            <a:ext cx="3333750" cy="1295400"/>
          </a:xfrm>
          <a:prstGeom prst="roundRect">
            <a:avLst>
              <a:gd name="adj" fmla="val 0"/>
            </a:avLst>
          </a:prstGeom>
        </p:spPr>
      </p:pic>
      <p:pic>
        <p:nvPicPr>
          <p:cNvPr id="15"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542925" y="3590925"/>
            <a:ext cx="3333750" cy="1295400"/>
          </a:xfrm>
          <a:prstGeom prst="roundRect">
            <a:avLst>
              <a:gd name="adj" fmla="val 0"/>
            </a:avLst>
          </a:prstGeom>
        </p:spPr>
      </p:pic>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542925" y="3590925"/>
            <a:ext cx="3333750" cy="1295400"/>
          </a:xfrm>
          <a:prstGeom prst="roundRect">
            <a:avLst>
              <a:gd name="adj" fmla="val 0"/>
            </a:avLst>
          </a:prstGeom>
        </p:spPr>
      </p:pic>
      <p:sp>
        <p:nvSpPr>
          <p:cNvPr id="17" name="Shape 12"/>
          <p:cNvSpPr/>
          <p:nvPr/>
        </p:nvSpPr>
        <p:spPr>
          <a:xfrm>
            <a:off x="4271963" y="3128963"/>
            <a:ext cx="3648075" cy="1666875"/>
          </a:xfrm>
          <a:custGeom>
            <a:avLst/>
            <a:gdLst/>
            <a:ahLst/>
            <a:cxnLst/>
            <a:rect l="l" t="t" r="r" b="b"/>
            <a:pathLst>
              <a:path w="3648075" h="1666875">
                <a:moveTo>
                  <a:pt x="0" y="0"/>
                </a:moveTo>
                <a:lnTo>
                  <a:pt x="3648075" y="0"/>
                </a:lnTo>
                <a:lnTo>
                  <a:pt x="3648075" y="1666875"/>
                </a:lnTo>
                <a:lnTo>
                  <a:pt x="0" y="1666875"/>
                </a:lnTo>
                <a:lnTo>
                  <a:pt x="0" y="0"/>
                </a:lnTo>
                <a:close/>
              </a:path>
            </a:pathLst>
          </a:custGeom>
          <a:solidFill>
            <a:srgbClr val="FFFFFF"/>
          </a:solidFill>
          <a:ln w="12700">
            <a:solidFill>
              <a:srgbClr val="E5E7EB"/>
            </a:solidFill>
            <a:prstDash val="solid"/>
          </a:ln>
        </p:spPr>
      </p:sp>
      <p:sp>
        <p:nvSpPr>
          <p:cNvPr id="18" name="Text 13"/>
          <p:cNvSpPr/>
          <p:nvPr/>
        </p:nvSpPr>
        <p:spPr>
          <a:xfrm>
            <a:off x="4391025" y="3286125"/>
            <a:ext cx="34099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PCA Biplot</a:t>
            </a:r>
            <a:endParaRPr lang="en-US" sz="1600" dirty="0"/>
          </a:p>
        </p:txBody>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4429125" y="3590925"/>
            <a:ext cx="3333750" cy="1295400"/>
          </a:xfrm>
          <a:prstGeom prst="roundRect">
            <a:avLst>
              <a:gd name="adj" fmla="val 0"/>
            </a:avLst>
          </a:prstGeom>
        </p:spPr>
      </p:pic>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rcRect l="0" r="0" t="0" b="0"/>
          <a:stretch/>
        </p:blipFill>
        <p:spPr>
          <a:xfrm>
            <a:off x="4429125" y="3590925"/>
            <a:ext cx="3333750" cy="1295400"/>
          </a:xfrm>
          <a:prstGeom prst="roundRect">
            <a:avLst>
              <a:gd name="adj" fmla="val 0"/>
            </a:avLst>
          </a:prstGeom>
        </p:spPr>
      </p:pic>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4429125" y="3590925"/>
            <a:ext cx="3333750" cy="1295400"/>
          </a:xfrm>
          <a:prstGeom prst="roundRect">
            <a:avLst>
              <a:gd name="adj" fmla="val 0"/>
            </a:avLst>
          </a:prstGeom>
        </p:spPr>
      </p:pic>
      <p:sp>
        <p:nvSpPr>
          <p:cNvPr id="22" name="Shape 14"/>
          <p:cNvSpPr/>
          <p:nvPr/>
        </p:nvSpPr>
        <p:spPr>
          <a:xfrm>
            <a:off x="8158163" y="3128963"/>
            <a:ext cx="3648075" cy="1666875"/>
          </a:xfrm>
          <a:custGeom>
            <a:avLst/>
            <a:gdLst/>
            <a:ahLst/>
            <a:cxnLst/>
            <a:rect l="l" t="t" r="r" b="b"/>
            <a:pathLst>
              <a:path w="3648075" h="1666875">
                <a:moveTo>
                  <a:pt x="0" y="0"/>
                </a:moveTo>
                <a:lnTo>
                  <a:pt x="3648075" y="0"/>
                </a:lnTo>
                <a:lnTo>
                  <a:pt x="3648075" y="1666875"/>
                </a:lnTo>
                <a:lnTo>
                  <a:pt x="0" y="1666875"/>
                </a:lnTo>
                <a:lnTo>
                  <a:pt x="0" y="0"/>
                </a:lnTo>
                <a:close/>
              </a:path>
            </a:pathLst>
          </a:custGeom>
          <a:solidFill>
            <a:srgbClr val="FFFFFF"/>
          </a:solidFill>
          <a:ln w="12700">
            <a:solidFill>
              <a:srgbClr val="E5E7EB"/>
            </a:solidFill>
            <a:prstDash val="solid"/>
          </a:ln>
        </p:spPr>
      </p:sp>
      <p:sp>
        <p:nvSpPr>
          <p:cNvPr id="23" name="Text 15"/>
          <p:cNvSpPr/>
          <p:nvPr/>
        </p:nvSpPr>
        <p:spPr>
          <a:xfrm>
            <a:off x="8277225" y="3286125"/>
            <a:ext cx="34099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Variable Contributions</a:t>
            </a:r>
            <a:endParaRPr lang="en-US" sz="1600" dirty="0"/>
          </a:p>
        </p:txBody>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rcRect l="0" r="0" t="0" b="0"/>
          <a:stretch/>
        </p:blipFill>
        <p:spPr>
          <a:xfrm>
            <a:off x="8315325" y="3590925"/>
            <a:ext cx="3333750" cy="1295400"/>
          </a:xfrm>
          <a:prstGeom prst="roundRect">
            <a:avLst>
              <a:gd name="adj" fmla="val 0"/>
            </a:avLst>
          </a:prstGeom>
        </p:spPr>
      </p:pic>
      <p:pic>
        <p:nvPicPr>
          <p:cNvPr id="25" name="Image 7" descr="preencoded.png">    </p:cNvPr>
          <p:cNvPicPr>
            <a:picLocks noChangeAspect="1"/>
          </p:cNvPicPr>
          <p:nvPr/>
        </p:nvPicPr>
        <p:blipFill>
          <a:blip r:embed="rId15">
            <a:extLst>
              <a:ext uri="{96DAC541-7B7A-43D3-8B79-37D633B846F1}">
                <asvg:svgBlip xmlns:asvg="http://schemas.microsoft.com/office/drawing/2016/SVG/main" r:embed="rId16"/>
              </a:ext>
            </a:extLst>
          </a:blip>
          <a:srcRect l="0" r="0" t="0" b="0"/>
          <a:stretch/>
        </p:blipFill>
        <p:spPr>
          <a:xfrm>
            <a:off x="8315325" y="3590925"/>
            <a:ext cx="3333750" cy="1295400"/>
          </a:xfrm>
          <a:prstGeom prst="roundRect">
            <a:avLst>
              <a:gd name="adj" fmla="val 0"/>
            </a:avLst>
          </a:prstGeom>
        </p:spPr>
      </p:pic>
      <p:pic>
        <p:nvPicPr>
          <p:cNvPr id="26" name="Image 8" descr="preencoded.png">    </p:cNvPr>
          <p:cNvPicPr>
            <a:picLocks noChangeAspect="1"/>
          </p:cNvPicPr>
          <p:nvPr/>
        </p:nvPicPr>
        <p:blipFill>
          <a:blip r:embed="rId17">
            <a:extLst>
              <a:ext uri="{96DAC541-7B7A-43D3-8B79-37D633B846F1}">
                <asvg:svgBlip xmlns:asvg="http://schemas.microsoft.com/office/drawing/2016/SVG/main" r:embed="rId18"/>
              </a:ext>
            </a:extLst>
          </a:blip>
          <a:srcRect l="0" r="0" t="0" b="0"/>
          <a:stretch/>
        </p:blipFill>
        <p:spPr>
          <a:xfrm>
            <a:off x="8315325" y="3590925"/>
            <a:ext cx="3333750" cy="1295400"/>
          </a:xfrm>
          <a:prstGeom prst="roundRect">
            <a:avLst>
              <a:gd name="adj" fmla="val 0"/>
            </a:avLst>
          </a:prstGeom>
        </p:spPr>
      </p:pic>
      <p:sp>
        <p:nvSpPr>
          <p:cNvPr id="27" name="Shape 16"/>
          <p:cNvSpPr/>
          <p:nvPr/>
        </p:nvSpPr>
        <p:spPr>
          <a:xfrm>
            <a:off x="400050" y="4953000"/>
            <a:ext cx="11410950" cy="1143000"/>
          </a:xfrm>
          <a:custGeom>
            <a:avLst/>
            <a:gdLst/>
            <a:ahLst/>
            <a:cxnLst/>
            <a:rect l="l" t="t" r="r" b="b"/>
            <a:pathLst>
              <a:path w="11410950" h="1143000">
                <a:moveTo>
                  <a:pt x="0" y="0"/>
                </a:moveTo>
                <a:lnTo>
                  <a:pt x="11410950" y="0"/>
                </a:lnTo>
                <a:lnTo>
                  <a:pt x="11410950" y="1143000"/>
                </a:lnTo>
                <a:lnTo>
                  <a:pt x="0" y="1143000"/>
                </a:lnTo>
                <a:lnTo>
                  <a:pt x="0" y="0"/>
                </a:lnTo>
                <a:close/>
              </a:path>
            </a:pathLst>
          </a:custGeom>
          <a:solidFill>
            <a:srgbClr val="8B0000">
              <a:alpha val="5098"/>
            </a:srgbClr>
          </a:solidFill>
          <a:ln/>
        </p:spPr>
      </p:sp>
      <p:sp>
        <p:nvSpPr>
          <p:cNvPr id="28" name="Shape 17"/>
          <p:cNvSpPr/>
          <p:nvPr/>
        </p:nvSpPr>
        <p:spPr>
          <a:xfrm>
            <a:off x="400050" y="495300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8B0000"/>
          </a:solidFill>
          <a:ln/>
        </p:spPr>
      </p:sp>
      <p:sp>
        <p:nvSpPr>
          <p:cNvPr id="29" name="Text 18"/>
          <p:cNvSpPr/>
          <p:nvPr/>
        </p:nvSpPr>
        <p:spPr>
          <a:xfrm>
            <a:off x="571500" y="5105400"/>
            <a:ext cx="11172825" cy="266700"/>
          </a:xfrm>
          <a:prstGeom prst="rect">
            <a:avLst/>
          </a:prstGeom>
          <a:noFill/>
          <a:ln/>
        </p:spPr>
        <p:txBody>
          <a:bodyPr wrap="square" lIns="0" tIns="0" rIns="0" bIns="0" rtlCol="0" anchor="ctr"/>
          <a:lstStyle/>
          <a:p>
            <a:pPr>
              <a:lnSpc>
                <a:spcPct val="130000"/>
              </a:lnSpc>
            </a:pPr>
            <a:r>
              <a:rPr lang="en-US" sz="1350" b="1" dirty="0">
                <a:solidFill>
                  <a:srgbClr val="8B0000"/>
                </a:solidFill>
                <a:latin typeface="Sorts Mill Goudy" pitchFamily="34" charset="0"/>
                <a:ea typeface="Sorts Mill Goudy" pitchFamily="34" charset="-122"/>
                <a:cs typeface="Sorts Mill Goudy" pitchFamily="34" charset="-120"/>
              </a:rPr>
              <a:t>Key Finding</a:t>
            </a:r>
            <a:endParaRPr lang="en-US" sz="1600" dirty="0"/>
          </a:p>
        </p:txBody>
      </p:sp>
      <p:sp>
        <p:nvSpPr>
          <p:cNvPr id="30" name="Text 19"/>
          <p:cNvSpPr/>
          <p:nvPr/>
        </p:nvSpPr>
        <p:spPr>
          <a:xfrm>
            <a:off x="571500" y="5448300"/>
            <a:ext cx="111633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Each of the 9 components explains approximately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11% of variance</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(ranging from 11.4% to 10.9%), with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no dominant component</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This flat profile confirms the independent variable structure observed in the correlation matrix — a direct consequence of synthetic data generation.</a:t>
            </a:r>
            <a:endParaRPr lang="en-US" sz="1600" dirty="0"/>
          </a:p>
        </p:txBody>
      </p:sp>
      <p:sp>
        <p:nvSpPr>
          <p:cNvPr id="31" name="Text 20"/>
          <p:cNvSpPr/>
          <p:nvPr/>
        </p:nvSpPr>
        <p:spPr>
          <a:xfrm>
            <a:off x="381000" y="6248400"/>
            <a:ext cx="11506200"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Figure 4:</a:t>
            </a:r>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 Scree plot, PCA biplot, and variable contributions. The circular spread of observations with no directional structure is consistent with uncorrelated variables.</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4572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3" name="Text 1"/>
          <p:cNvSpPr/>
          <p:nvPr/>
        </p:nvSpPr>
        <p:spPr>
          <a:xfrm>
            <a:off x="323850" y="457200"/>
            <a:ext cx="571500" cy="4572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Sorts Mill Goudy" pitchFamily="34" charset="0"/>
                <a:ea typeface="Sorts Mill Goudy" pitchFamily="34" charset="-122"/>
                <a:cs typeface="Sorts Mill Goudy" pitchFamily="34" charset="-120"/>
              </a:rPr>
              <a:t>4.2</a:t>
            </a:r>
            <a:endParaRPr lang="en-US" sz="1600" dirty="0"/>
          </a:p>
        </p:txBody>
      </p:sp>
      <p:sp>
        <p:nvSpPr>
          <p:cNvPr id="4" name="Text 2"/>
          <p:cNvSpPr/>
          <p:nvPr/>
        </p:nvSpPr>
        <p:spPr>
          <a:xfrm>
            <a:off x="952500" y="381000"/>
            <a:ext cx="3057525" cy="228600"/>
          </a:xfrm>
          <a:prstGeom prst="rect">
            <a:avLst/>
          </a:prstGeom>
          <a:noFill/>
          <a:ln/>
        </p:spPr>
        <p:txBody>
          <a:bodyPr wrap="square" lIns="0" tIns="0" rIns="0" bIns="0" rtlCol="0" anchor="ctr"/>
          <a:lstStyle/>
          <a:p>
            <a:pPr>
              <a:lnSpc>
                <a:spcPct val="130000"/>
              </a:lnSpc>
            </a:pPr>
            <a:r>
              <a:rPr lang="en-US" sz="1200" b="1" spc="60" kern="0" dirty="0">
                <a:solidFill>
                  <a:srgbClr val="8B0000"/>
                </a:solidFill>
                <a:latin typeface="Sorts Mill Goudy" pitchFamily="34" charset="0"/>
                <a:ea typeface="Sorts Mill Goudy" pitchFamily="34" charset="-122"/>
                <a:cs typeface="Sorts Mill Goudy" pitchFamily="34" charset="-120"/>
              </a:rPr>
              <a:t>UNSUPERVISED ANALYSIS</a:t>
            </a:r>
            <a:endParaRPr lang="en-US" sz="1600" dirty="0"/>
          </a:p>
        </p:txBody>
      </p:sp>
      <p:sp>
        <p:nvSpPr>
          <p:cNvPr id="5" name="Text 3"/>
          <p:cNvSpPr/>
          <p:nvPr/>
        </p:nvSpPr>
        <p:spPr>
          <a:xfrm>
            <a:off x="952500" y="609600"/>
            <a:ext cx="3152775"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K-Means Clustering</a:t>
            </a:r>
            <a:endParaRPr lang="en-US" sz="1600" dirty="0"/>
          </a:p>
        </p:txBody>
      </p:sp>
      <p:sp>
        <p:nvSpPr>
          <p:cNvPr id="6" name="Shape 4"/>
          <p:cNvSpPr/>
          <p:nvPr/>
        </p:nvSpPr>
        <p:spPr>
          <a:xfrm>
            <a:off x="385763" y="1223963"/>
            <a:ext cx="3648075" cy="2886075"/>
          </a:xfrm>
          <a:custGeom>
            <a:avLst/>
            <a:gdLst/>
            <a:ahLst/>
            <a:cxnLst/>
            <a:rect l="l" t="t" r="r" b="b"/>
            <a:pathLst>
              <a:path w="3648075" h="2886075">
                <a:moveTo>
                  <a:pt x="0" y="0"/>
                </a:moveTo>
                <a:lnTo>
                  <a:pt x="3648075" y="0"/>
                </a:lnTo>
                <a:lnTo>
                  <a:pt x="3648075" y="2886075"/>
                </a:lnTo>
                <a:lnTo>
                  <a:pt x="0" y="2886075"/>
                </a:lnTo>
                <a:lnTo>
                  <a:pt x="0" y="0"/>
                </a:lnTo>
                <a:close/>
              </a:path>
            </a:pathLst>
          </a:custGeom>
          <a:solidFill>
            <a:srgbClr val="FFFFFF"/>
          </a:solidFill>
          <a:ln w="12700">
            <a:solidFill>
              <a:srgbClr val="E5E7EB"/>
            </a:solidFill>
            <a:prstDash val="solid"/>
          </a:ln>
        </p:spPr>
      </p:sp>
      <p:sp>
        <p:nvSpPr>
          <p:cNvPr id="7" name="Text 5"/>
          <p:cNvSpPr/>
          <p:nvPr/>
        </p:nvSpPr>
        <p:spPr>
          <a:xfrm>
            <a:off x="504825" y="1381125"/>
            <a:ext cx="34099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Elbow Method (WSS)</a:t>
            </a:r>
            <a:endParaRPr lang="en-US" sz="16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542925" y="1685925"/>
            <a:ext cx="3333750" cy="2019300"/>
          </a:xfrm>
          <a:prstGeom prst="roundRect">
            <a:avLst>
              <a:gd name="adj" fmla="val 0"/>
            </a:avLst>
          </a:prstGeom>
        </p:spPr>
      </p:pic>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542925" y="1685925"/>
            <a:ext cx="3333750" cy="2019300"/>
          </a:xfrm>
          <a:prstGeom prst="roundRect">
            <a:avLst>
              <a:gd name="adj" fmla="val 0"/>
            </a:avLst>
          </a:prstGeom>
        </p:spPr>
      </p:pic>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542925" y="1685925"/>
            <a:ext cx="3333750" cy="2019300"/>
          </a:xfrm>
          <a:prstGeom prst="roundRect">
            <a:avLst>
              <a:gd name="adj" fmla="val 0"/>
            </a:avLst>
          </a:prstGeom>
        </p:spPr>
      </p:pic>
      <p:sp>
        <p:nvSpPr>
          <p:cNvPr id="11" name="Shape 6"/>
          <p:cNvSpPr/>
          <p:nvPr/>
        </p:nvSpPr>
        <p:spPr>
          <a:xfrm>
            <a:off x="4271963" y="1223963"/>
            <a:ext cx="3648075" cy="2886075"/>
          </a:xfrm>
          <a:custGeom>
            <a:avLst/>
            <a:gdLst/>
            <a:ahLst/>
            <a:cxnLst/>
            <a:rect l="l" t="t" r="r" b="b"/>
            <a:pathLst>
              <a:path w="3648075" h="2886075">
                <a:moveTo>
                  <a:pt x="0" y="0"/>
                </a:moveTo>
                <a:lnTo>
                  <a:pt x="3648075" y="0"/>
                </a:lnTo>
                <a:lnTo>
                  <a:pt x="3648075" y="2886075"/>
                </a:lnTo>
                <a:lnTo>
                  <a:pt x="0" y="2886075"/>
                </a:lnTo>
                <a:lnTo>
                  <a:pt x="0" y="0"/>
                </a:lnTo>
                <a:close/>
              </a:path>
            </a:pathLst>
          </a:custGeom>
          <a:solidFill>
            <a:srgbClr val="FFFFFF"/>
          </a:solidFill>
          <a:ln w="12700">
            <a:solidFill>
              <a:srgbClr val="E5E7EB"/>
            </a:solidFill>
            <a:prstDash val="solid"/>
          </a:ln>
        </p:spPr>
      </p:sp>
      <p:sp>
        <p:nvSpPr>
          <p:cNvPr id="12" name="Text 7"/>
          <p:cNvSpPr/>
          <p:nvPr/>
        </p:nvSpPr>
        <p:spPr>
          <a:xfrm>
            <a:off x="4391025" y="1381125"/>
            <a:ext cx="34099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Silhouette Method</a:t>
            </a:r>
            <a:endParaRPr lang="en-US" sz="160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4429125" y="1685925"/>
            <a:ext cx="3333750" cy="2019300"/>
          </a:xfrm>
          <a:prstGeom prst="roundRect">
            <a:avLst>
              <a:gd name="adj" fmla="val 0"/>
            </a:avLst>
          </a:prstGeom>
        </p:spPr>
      </p:pic>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rcRect l="0" r="0" t="0" b="0"/>
          <a:stretch/>
        </p:blipFill>
        <p:spPr>
          <a:xfrm>
            <a:off x="4429125" y="1685925"/>
            <a:ext cx="3333750" cy="2019300"/>
          </a:xfrm>
          <a:prstGeom prst="roundRect">
            <a:avLst>
              <a:gd name="adj" fmla="val 0"/>
            </a:avLst>
          </a:prstGeom>
        </p:spPr>
      </p:pic>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4429125" y="1685925"/>
            <a:ext cx="3333750" cy="2019300"/>
          </a:xfrm>
          <a:prstGeom prst="roundRect">
            <a:avLst>
              <a:gd name="adj" fmla="val 0"/>
            </a:avLst>
          </a:prstGeom>
        </p:spPr>
      </p:pic>
      <p:sp>
        <p:nvSpPr>
          <p:cNvPr id="16" name="Shape 8"/>
          <p:cNvSpPr/>
          <p:nvPr/>
        </p:nvSpPr>
        <p:spPr>
          <a:xfrm>
            <a:off x="8153400" y="1219200"/>
            <a:ext cx="3657600" cy="2895600"/>
          </a:xfrm>
          <a:custGeom>
            <a:avLst/>
            <a:gdLst/>
            <a:ahLst/>
            <a:cxnLst/>
            <a:rect l="l" t="t" r="r" b="b"/>
            <a:pathLst>
              <a:path w="3657600" h="2895600">
                <a:moveTo>
                  <a:pt x="0" y="0"/>
                </a:moveTo>
                <a:lnTo>
                  <a:pt x="3657600" y="0"/>
                </a:lnTo>
                <a:lnTo>
                  <a:pt x="3657600" y="2895600"/>
                </a:lnTo>
                <a:lnTo>
                  <a:pt x="0" y="2895600"/>
                </a:lnTo>
                <a:lnTo>
                  <a:pt x="0" y="0"/>
                </a:lnTo>
                <a:close/>
              </a:path>
            </a:pathLst>
          </a:custGeom>
          <a:solidFill>
            <a:srgbClr val="F9FAFB"/>
          </a:solidFill>
          <a:ln/>
        </p:spPr>
      </p:sp>
      <p:sp>
        <p:nvSpPr>
          <p:cNvPr id="17" name="Text 9"/>
          <p:cNvSpPr/>
          <p:nvPr/>
        </p:nvSpPr>
        <p:spPr>
          <a:xfrm>
            <a:off x="8305800" y="1371600"/>
            <a:ext cx="3438525" cy="266700"/>
          </a:xfrm>
          <a:prstGeom prst="rect">
            <a:avLst/>
          </a:prstGeom>
          <a:noFill/>
          <a:ln/>
        </p:spPr>
        <p:txBody>
          <a:bodyPr wrap="square" lIns="0" tIns="0" rIns="0" bIns="0" rtlCol="0" anchor="ctr"/>
          <a:lstStyle/>
          <a:p>
            <a:pPr>
              <a:lnSpc>
                <a:spcPct val="130000"/>
              </a:lnSpc>
            </a:pPr>
            <a:r>
              <a:rPr lang="en-US" sz="1350" b="1" dirty="0">
                <a:solidFill>
                  <a:srgbClr val="1F2937"/>
                </a:solidFill>
                <a:latin typeface="Sorts Mill Goudy" pitchFamily="34" charset="0"/>
                <a:ea typeface="Sorts Mill Goudy" pitchFamily="34" charset="-122"/>
                <a:cs typeface="Sorts Mill Goudy" pitchFamily="34" charset="-120"/>
              </a:rPr>
              <a:t>Cluster Selection</a:t>
            </a:r>
            <a:endParaRPr lang="en-US" sz="1600" dirty="0"/>
          </a:p>
        </p:txBody>
      </p:sp>
      <p:sp>
        <p:nvSpPr>
          <p:cNvPr id="18" name="Text 10"/>
          <p:cNvSpPr/>
          <p:nvPr/>
        </p:nvSpPr>
        <p:spPr>
          <a:xfrm>
            <a:off x="8305800" y="1752600"/>
            <a:ext cx="34290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Two methods used on a 5,000-observation subsample:</a:t>
            </a:r>
            <a:endParaRPr lang="en-US" sz="1600" dirty="0"/>
          </a:p>
        </p:txBody>
      </p:sp>
      <p:sp>
        <p:nvSpPr>
          <p:cNvPr id="19" name="Text 11"/>
          <p:cNvSpPr/>
          <p:nvPr/>
        </p:nvSpPr>
        <p:spPr>
          <a:xfrm>
            <a:off x="8305800" y="2362200"/>
            <a:ext cx="3429000"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Elbow method:</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No sharp elbow visible — consistent with absence of natural cluster structure</a:t>
            </a:r>
            <a:endParaRPr lang="en-US" sz="1600" dirty="0"/>
          </a:p>
        </p:txBody>
      </p:sp>
      <p:sp>
        <p:nvSpPr>
          <p:cNvPr id="20" name="Text 12"/>
          <p:cNvSpPr/>
          <p:nvPr/>
        </p:nvSpPr>
        <p:spPr>
          <a:xfrm>
            <a:off x="8305800" y="2895600"/>
            <a:ext cx="3429000"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Silhouette method:</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Peaks at k=6, but values very low (≈0.13) across all k</a:t>
            </a:r>
            <a:endParaRPr lang="en-US" sz="1600" dirty="0"/>
          </a:p>
        </p:txBody>
      </p:sp>
      <p:sp>
        <p:nvSpPr>
          <p:cNvPr id="21" name="Shape 13"/>
          <p:cNvSpPr/>
          <p:nvPr/>
        </p:nvSpPr>
        <p:spPr>
          <a:xfrm>
            <a:off x="8305800" y="3467100"/>
            <a:ext cx="3352800" cy="495300"/>
          </a:xfrm>
          <a:custGeom>
            <a:avLst/>
            <a:gdLst/>
            <a:ahLst/>
            <a:cxnLst/>
            <a:rect l="l" t="t" r="r" b="b"/>
            <a:pathLst>
              <a:path w="3352800" h="495300">
                <a:moveTo>
                  <a:pt x="0" y="0"/>
                </a:moveTo>
                <a:lnTo>
                  <a:pt x="3352800" y="0"/>
                </a:lnTo>
                <a:lnTo>
                  <a:pt x="3352800" y="495300"/>
                </a:lnTo>
                <a:lnTo>
                  <a:pt x="0" y="495300"/>
                </a:lnTo>
                <a:lnTo>
                  <a:pt x="0" y="0"/>
                </a:lnTo>
                <a:close/>
              </a:path>
            </a:pathLst>
          </a:custGeom>
          <a:solidFill>
            <a:srgbClr val="8B0000"/>
          </a:solidFill>
          <a:ln/>
        </p:spPr>
      </p:sp>
      <p:sp>
        <p:nvSpPr>
          <p:cNvPr id="22" name="Text 14"/>
          <p:cNvSpPr/>
          <p:nvPr/>
        </p:nvSpPr>
        <p:spPr>
          <a:xfrm>
            <a:off x="8377238" y="3581400"/>
            <a:ext cx="3209925" cy="266700"/>
          </a:xfrm>
          <a:prstGeom prst="rect">
            <a:avLst/>
          </a:prstGeom>
          <a:noFill/>
          <a:ln/>
        </p:spPr>
        <p:txBody>
          <a:bodyPr wrap="square" lIns="0" tIns="0" rIns="0" bIns="0" rtlCol="0" anchor="ctr"/>
          <a:lstStyle/>
          <a:p>
            <a:pPr algn="ct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k = 4 chosen as practical compromise</a:t>
            </a:r>
            <a:endParaRPr lang="en-US" sz="1600" dirty="0"/>
          </a:p>
        </p:txBody>
      </p:sp>
      <p:sp>
        <p:nvSpPr>
          <p:cNvPr id="23" name="Shape 15"/>
          <p:cNvSpPr/>
          <p:nvPr/>
        </p:nvSpPr>
        <p:spPr>
          <a:xfrm>
            <a:off x="385763" y="4271963"/>
            <a:ext cx="5591175" cy="619125"/>
          </a:xfrm>
          <a:custGeom>
            <a:avLst/>
            <a:gdLst/>
            <a:ahLst/>
            <a:cxnLst/>
            <a:rect l="l" t="t" r="r" b="b"/>
            <a:pathLst>
              <a:path w="5591175" h="619125">
                <a:moveTo>
                  <a:pt x="0" y="0"/>
                </a:moveTo>
                <a:lnTo>
                  <a:pt x="5591175" y="0"/>
                </a:lnTo>
                <a:lnTo>
                  <a:pt x="5591175" y="619125"/>
                </a:lnTo>
                <a:lnTo>
                  <a:pt x="0" y="619125"/>
                </a:lnTo>
                <a:lnTo>
                  <a:pt x="0" y="0"/>
                </a:lnTo>
                <a:close/>
              </a:path>
            </a:pathLst>
          </a:custGeom>
          <a:solidFill>
            <a:srgbClr val="FFFFFF"/>
          </a:solidFill>
          <a:ln w="12700">
            <a:solidFill>
              <a:srgbClr val="E5E7EB"/>
            </a:solidFill>
            <a:prstDash val="solid"/>
          </a:ln>
        </p:spPr>
      </p:sp>
      <p:sp>
        <p:nvSpPr>
          <p:cNvPr id="24" name="Text 16"/>
          <p:cNvSpPr/>
          <p:nvPr/>
        </p:nvSpPr>
        <p:spPr>
          <a:xfrm>
            <a:off x="504825" y="4429125"/>
            <a:ext cx="53530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K-Means Clusters (k=4) in PC1-PC2 Space</a:t>
            </a:r>
            <a:endParaRPr lang="en-US" sz="1600" dirty="0"/>
          </a:p>
        </p:txBody>
      </p:sp>
      <p:pic>
        <p:nvPicPr>
          <p:cNvPr id="25" name="Image 6" descr="preencoded.png">    </p:cNvPr>
          <p:cNvPicPr>
            <a:picLocks noChangeAspect="1"/>
          </p:cNvPicPr>
          <p:nvPr/>
        </p:nvPicPr>
        <p:blipFill>
          <a:blip r:embed="rId13">
            <a:extLst>
              <a:ext uri="{96DAC541-7B7A-43D3-8B79-37D633B846F1}">
                <asvg:svgBlip xmlns:asvg="http://schemas.microsoft.com/office/drawing/2016/SVG/main" r:embed="rId14"/>
              </a:ext>
            </a:extLst>
          </a:blip>
          <a:srcRect l="0" r="0" t="0" b="0"/>
          <a:stretch/>
        </p:blipFill>
        <p:spPr>
          <a:xfrm>
            <a:off x="542925" y="4733925"/>
            <a:ext cx="5276850" cy="152400"/>
          </a:xfrm>
          <a:prstGeom prst="roundRect">
            <a:avLst>
              <a:gd name="adj" fmla="val 0"/>
            </a:avLst>
          </a:prstGeom>
        </p:spPr>
      </p:pic>
      <p:pic>
        <p:nvPicPr>
          <p:cNvPr id="26" name="Image 7" descr="preencoded.png">    </p:cNvPr>
          <p:cNvPicPr>
            <a:picLocks noChangeAspect="1"/>
          </p:cNvPicPr>
          <p:nvPr/>
        </p:nvPicPr>
        <p:blipFill>
          <a:blip r:embed="rId15">
            <a:extLst>
              <a:ext uri="{96DAC541-7B7A-43D3-8B79-37D633B846F1}">
                <asvg:svgBlip xmlns:asvg="http://schemas.microsoft.com/office/drawing/2016/SVG/main" r:embed="rId16"/>
              </a:ext>
            </a:extLst>
          </a:blip>
          <a:srcRect l="0" r="0" t="0" b="0"/>
          <a:stretch/>
        </p:blipFill>
        <p:spPr>
          <a:xfrm>
            <a:off x="542925" y="4733925"/>
            <a:ext cx="5276850" cy="152400"/>
          </a:xfrm>
          <a:prstGeom prst="roundRect">
            <a:avLst>
              <a:gd name="adj" fmla="val 0"/>
            </a:avLst>
          </a:prstGeom>
        </p:spPr>
      </p:pic>
      <p:pic>
        <p:nvPicPr>
          <p:cNvPr id="27" name="Image 8" descr="preencoded.png">    </p:cNvPr>
          <p:cNvPicPr>
            <a:picLocks noChangeAspect="1"/>
          </p:cNvPicPr>
          <p:nvPr/>
        </p:nvPicPr>
        <p:blipFill>
          <a:blip r:embed="rId17">
            <a:extLst>
              <a:ext uri="{96DAC541-7B7A-43D3-8B79-37D633B846F1}">
                <asvg:svgBlip xmlns:asvg="http://schemas.microsoft.com/office/drawing/2016/SVG/main" r:embed="rId18"/>
              </a:ext>
            </a:extLst>
          </a:blip>
          <a:srcRect l="0" r="0" t="0" b="0"/>
          <a:stretch/>
        </p:blipFill>
        <p:spPr>
          <a:xfrm>
            <a:off x="542925" y="4733925"/>
            <a:ext cx="5276850" cy="152400"/>
          </a:xfrm>
          <a:prstGeom prst="roundRect">
            <a:avLst>
              <a:gd name="adj" fmla="val 0"/>
            </a:avLst>
          </a:prstGeom>
        </p:spPr>
      </p:pic>
      <p:sp>
        <p:nvSpPr>
          <p:cNvPr id="28" name="Shape 17"/>
          <p:cNvSpPr/>
          <p:nvPr/>
        </p:nvSpPr>
        <p:spPr>
          <a:xfrm>
            <a:off x="6215063" y="4271963"/>
            <a:ext cx="5591175" cy="619125"/>
          </a:xfrm>
          <a:custGeom>
            <a:avLst/>
            <a:gdLst/>
            <a:ahLst/>
            <a:cxnLst/>
            <a:rect l="l" t="t" r="r" b="b"/>
            <a:pathLst>
              <a:path w="5591175" h="619125">
                <a:moveTo>
                  <a:pt x="0" y="0"/>
                </a:moveTo>
                <a:lnTo>
                  <a:pt x="5591175" y="0"/>
                </a:lnTo>
                <a:lnTo>
                  <a:pt x="5591175" y="619125"/>
                </a:lnTo>
                <a:lnTo>
                  <a:pt x="0" y="619125"/>
                </a:lnTo>
                <a:lnTo>
                  <a:pt x="0" y="0"/>
                </a:lnTo>
                <a:close/>
              </a:path>
            </a:pathLst>
          </a:custGeom>
          <a:solidFill>
            <a:srgbClr val="FFFFFF"/>
          </a:solidFill>
          <a:ln w="12700">
            <a:solidFill>
              <a:srgbClr val="E5E7EB"/>
            </a:solidFill>
            <a:prstDash val="solid"/>
          </a:ln>
        </p:spPr>
      </p:sp>
      <p:sp>
        <p:nvSpPr>
          <p:cNvPr id="29" name="Text 18"/>
          <p:cNvSpPr/>
          <p:nvPr/>
        </p:nvSpPr>
        <p:spPr>
          <a:xfrm>
            <a:off x="6334125" y="4429125"/>
            <a:ext cx="53530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Cluster Profiles (Z-Scored Means)</a:t>
            </a:r>
            <a:endParaRPr lang="en-US" sz="1600" dirty="0"/>
          </a:p>
        </p:txBody>
      </p:sp>
      <p:pic>
        <p:nvPicPr>
          <p:cNvPr id="30" name="Image 9" descr="preencoded.png">    </p:cNvPr>
          <p:cNvPicPr>
            <a:picLocks noChangeAspect="1"/>
          </p:cNvPicPr>
          <p:nvPr/>
        </p:nvPicPr>
        <p:blipFill>
          <a:blip r:embed="rId19">
            <a:extLst>
              <a:ext uri="{96DAC541-7B7A-43D3-8B79-37D633B846F1}">
                <asvg:svgBlip xmlns:asvg="http://schemas.microsoft.com/office/drawing/2016/SVG/main" r:embed="rId20"/>
              </a:ext>
            </a:extLst>
          </a:blip>
          <a:srcRect l="0" r="0" t="0" b="0"/>
          <a:stretch/>
        </p:blipFill>
        <p:spPr>
          <a:xfrm>
            <a:off x="6372225" y="4733925"/>
            <a:ext cx="2857500" cy="1428750"/>
          </a:xfrm>
          <a:prstGeom prst="roundRect">
            <a:avLst>
              <a:gd name="adj" fmla="val 0"/>
            </a:avLst>
          </a:prstGeom>
        </p:spPr>
      </p:pic>
      <p:pic>
        <p:nvPicPr>
          <p:cNvPr id="31" name="Image 10" descr="preencoded.png">    </p:cNvPr>
          <p:cNvPicPr>
            <a:picLocks noChangeAspect="1"/>
          </p:cNvPicPr>
          <p:nvPr/>
        </p:nvPicPr>
        <p:blipFill>
          <a:blip r:embed="rId21">
            <a:extLst>
              <a:ext uri="{96DAC541-7B7A-43D3-8B79-37D633B846F1}">
                <asvg:svgBlip xmlns:asvg="http://schemas.microsoft.com/office/drawing/2016/SVG/main" r:embed="rId22"/>
              </a:ext>
            </a:extLst>
          </a:blip>
          <a:srcRect l="0" r="0" t="0" b="0"/>
          <a:stretch/>
        </p:blipFill>
        <p:spPr>
          <a:xfrm>
            <a:off x="6372225" y="4733925"/>
            <a:ext cx="2857500" cy="1428750"/>
          </a:xfrm>
          <a:prstGeom prst="roundRect">
            <a:avLst>
              <a:gd name="adj" fmla="val 0"/>
            </a:avLst>
          </a:prstGeom>
        </p:spPr>
      </p:pic>
      <p:pic>
        <p:nvPicPr>
          <p:cNvPr id="32" name="Image 11" descr="preencoded.png">    </p:cNvPr>
          <p:cNvPicPr>
            <a:picLocks noChangeAspect="1"/>
          </p:cNvPicPr>
          <p:nvPr/>
        </p:nvPicPr>
        <p:blipFill>
          <a:blip r:embed="rId23">
            <a:extLst>
              <a:ext uri="{96DAC541-7B7A-43D3-8B79-37D633B846F1}">
                <asvg:svgBlip xmlns:asvg="http://schemas.microsoft.com/office/drawing/2016/SVG/main" r:embed="rId24"/>
              </a:ext>
            </a:extLst>
          </a:blip>
          <a:srcRect l="0" r="0" t="0" b="0"/>
          <a:stretch/>
        </p:blipFill>
        <p:spPr>
          <a:xfrm>
            <a:off x="6372225" y="4733925"/>
            <a:ext cx="2857500" cy="1428750"/>
          </a:xfrm>
          <a:prstGeom prst="roundRect">
            <a:avLst>
              <a:gd name="adj" fmla="val 0"/>
            </a:avLst>
          </a:prstGeom>
        </p:spPr>
      </p:pic>
      <p:sp>
        <p:nvSpPr>
          <p:cNvPr id="33" name="Shape 19"/>
          <p:cNvSpPr/>
          <p:nvPr/>
        </p:nvSpPr>
        <p:spPr>
          <a:xfrm>
            <a:off x="400050" y="5048250"/>
            <a:ext cx="11410950" cy="1143000"/>
          </a:xfrm>
          <a:custGeom>
            <a:avLst/>
            <a:gdLst/>
            <a:ahLst/>
            <a:cxnLst/>
            <a:rect l="l" t="t" r="r" b="b"/>
            <a:pathLst>
              <a:path w="11410950" h="1143000">
                <a:moveTo>
                  <a:pt x="0" y="0"/>
                </a:moveTo>
                <a:lnTo>
                  <a:pt x="11410950" y="0"/>
                </a:lnTo>
                <a:lnTo>
                  <a:pt x="11410950" y="1143000"/>
                </a:lnTo>
                <a:lnTo>
                  <a:pt x="0" y="1143000"/>
                </a:lnTo>
                <a:lnTo>
                  <a:pt x="0" y="0"/>
                </a:lnTo>
                <a:close/>
              </a:path>
            </a:pathLst>
          </a:custGeom>
          <a:solidFill>
            <a:srgbClr val="8B0000">
              <a:alpha val="5098"/>
            </a:srgbClr>
          </a:solidFill>
          <a:ln/>
        </p:spPr>
      </p:sp>
      <p:sp>
        <p:nvSpPr>
          <p:cNvPr id="34" name="Shape 20"/>
          <p:cNvSpPr/>
          <p:nvPr/>
        </p:nvSpPr>
        <p:spPr>
          <a:xfrm>
            <a:off x="400050" y="504825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8B0000"/>
          </a:solidFill>
          <a:ln/>
        </p:spPr>
      </p:sp>
      <p:sp>
        <p:nvSpPr>
          <p:cNvPr id="35" name="Text 21"/>
          <p:cNvSpPr/>
          <p:nvPr/>
        </p:nvSpPr>
        <p:spPr>
          <a:xfrm>
            <a:off x="571500" y="5200650"/>
            <a:ext cx="11172825" cy="266700"/>
          </a:xfrm>
          <a:prstGeom prst="rect">
            <a:avLst/>
          </a:prstGeom>
          <a:noFill/>
          <a:ln/>
        </p:spPr>
        <p:txBody>
          <a:bodyPr wrap="square" lIns="0" tIns="0" rIns="0" bIns="0" rtlCol="0" anchor="ctr"/>
          <a:lstStyle/>
          <a:p>
            <a:pPr>
              <a:lnSpc>
                <a:spcPct val="130000"/>
              </a:lnSpc>
            </a:pPr>
            <a:r>
              <a:rPr lang="en-US" sz="1350" b="1" dirty="0">
                <a:solidFill>
                  <a:srgbClr val="8B0000"/>
                </a:solidFill>
                <a:latin typeface="Sorts Mill Goudy" pitchFamily="34" charset="0"/>
                <a:ea typeface="Sorts Mill Goudy" pitchFamily="34" charset="-122"/>
                <a:cs typeface="Sorts Mill Goudy" pitchFamily="34" charset="-120"/>
              </a:rPr>
              <a:t>Cluster Characteristics</a:t>
            </a:r>
            <a:endParaRPr lang="en-US" sz="1600" dirty="0"/>
          </a:p>
        </p:txBody>
      </p:sp>
      <p:sp>
        <p:nvSpPr>
          <p:cNvPr id="36" name="Text 22"/>
          <p:cNvSpPr/>
          <p:nvPr/>
        </p:nvSpPr>
        <p:spPr>
          <a:xfrm>
            <a:off x="571500" y="5543550"/>
            <a:ext cx="111633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heavy overlap between convex hulls reflects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weak cluster separation</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indicated by low silhouette scores. Heatmap shows modest differences: Cluster 4 scores above average on productivity and below on caffeine; Cluster 3 shows elevated stress; Cluster 2 has higher mean age.</a:t>
            </a:r>
            <a:endParaRPr lang="en-US" sz="1600" dirty="0"/>
          </a:p>
        </p:txBody>
      </p:sp>
      <p:sp>
        <p:nvSpPr>
          <p:cNvPr id="37" name="Text 23"/>
          <p:cNvSpPr/>
          <p:nvPr/>
        </p:nvSpPr>
        <p:spPr>
          <a:xfrm>
            <a:off x="381000" y="6343650"/>
            <a:ext cx="11506200"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Figure 5:</a:t>
            </a:r>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 Elbow and silhouette plots for cluster selection, K-Means visualization, and cluster profile heatmap showing z-scored means across variables.</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4572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3" name="Text 1"/>
          <p:cNvSpPr/>
          <p:nvPr/>
        </p:nvSpPr>
        <p:spPr>
          <a:xfrm>
            <a:off x="323850" y="457200"/>
            <a:ext cx="571500" cy="4572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Sorts Mill Goudy" pitchFamily="34" charset="0"/>
                <a:ea typeface="Sorts Mill Goudy" pitchFamily="34" charset="-122"/>
                <a:cs typeface="Sorts Mill Goudy" pitchFamily="34" charset="-120"/>
              </a:rPr>
              <a:t>5.1</a:t>
            </a:r>
            <a:endParaRPr lang="en-US" sz="1600" dirty="0"/>
          </a:p>
        </p:txBody>
      </p:sp>
      <p:sp>
        <p:nvSpPr>
          <p:cNvPr id="4" name="Text 2"/>
          <p:cNvSpPr/>
          <p:nvPr/>
        </p:nvSpPr>
        <p:spPr>
          <a:xfrm>
            <a:off x="952500" y="381000"/>
            <a:ext cx="5276850" cy="228600"/>
          </a:xfrm>
          <a:prstGeom prst="rect">
            <a:avLst/>
          </a:prstGeom>
          <a:noFill/>
          <a:ln/>
        </p:spPr>
        <p:txBody>
          <a:bodyPr wrap="square" lIns="0" tIns="0" rIns="0" bIns="0" rtlCol="0" anchor="ctr"/>
          <a:lstStyle/>
          <a:p>
            <a:pPr>
              <a:lnSpc>
                <a:spcPct val="130000"/>
              </a:lnSpc>
            </a:pPr>
            <a:r>
              <a:rPr lang="en-US" sz="1200" b="1" spc="60" kern="0" dirty="0">
                <a:solidFill>
                  <a:srgbClr val="8B0000"/>
                </a:solidFill>
                <a:latin typeface="Sorts Mill Goudy" pitchFamily="34" charset="0"/>
                <a:ea typeface="Sorts Mill Goudy" pitchFamily="34" charset="-122"/>
                <a:cs typeface="Sorts Mill Goudy" pitchFamily="34" charset="-120"/>
              </a:rPr>
              <a:t>SUPERVISED ANALYSIS</a:t>
            </a:r>
            <a:endParaRPr lang="en-US" sz="1600" dirty="0"/>
          </a:p>
        </p:txBody>
      </p:sp>
      <p:sp>
        <p:nvSpPr>
          <p:cNvPr id="5" name="Text 3"/>
          <p:cNvSpPr/>
          <p:nvPr/>
        </p:nvSpPr>
        <p:spPr>
          <a:xfrm>
            <a:off x="952500" y="609600"/>
            <a:ext cx="537210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Regression: Predicting Productivity</a:t>
            </a:r>
            <a:endParaRPr lang="en-US" sz="1600" dirty="0"/>
          </a:p>
        </p:txBody>
      </p:sp>
      <p:sp>
        <p:nvSpPr>
          <p:cNvPr id="6" name="Shape 4"/>
          <p:cNvSpPr/>
          <p:nvPr/>
        </p:nvSpPr>
        <p:spPr>
          <a:xfrm>
            <a:off x="381000" y="1219200"/>
            <a:ext cx="5600700" cy="1828800"/>
          </a:xfrm>
          <a:custGeom>
            <a:avLst/>
            <a:gdLst/>
            <a:ahLst/>
            <a:cxnLst/>
            <a:rect l="l" t="t" r="r" b="b"/>
            <a:pathLst>
              <a:path w="5600700" h="1828800">
                <a:moveTo>
                  <a:pt x="0" y="0"/>
                </a:moveTo>
                <a:lnTo>
                  <a:pt x="5600700" y="0"/>
                </a:lnTo>
                <a:lnTo>
                  <a:pt x="5600700" y="1828800"/>
                </a:lnTo>
                <a:lnTo>
                  <a:pt x="0" y="1828800"/>
                </a:lnTo>
                <a:lnTo>
                  <a:pt x="0" y="0"/>
                </a:lnTo>
                <a:close/>
              </a:path>
            </a:pathLst>
          </a:custGeom>
          <a:solidFill>
            <a:srgbClr val="F9FAFB"/>
          </a:solidFill>
          <a:ln/>
        </p:spPr>
      </p:sp>
      <p:sp>
        <p:nvSpPr>
          <p:cNvPr id="7" name="Text 5"/>
          <p:cNvSpPr/>
          <p:nvPr/>
        </p:nvSpPr>
        <p:spPr>
          <a:xfrm>
            <a:off x="571500" y="1409700"/>
            <a:ext cx="5314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Data Preparation</a:t>
            </a:r>
            <a:endParaRPr lang="en-US" sz="1600" dirty="0"/>
          </a:p>
        </p:txBody>
      </p:sp>
      <p:sp>
        <p:nvSpPr>
          <p:cNvPr id="8" name="Text 6"/>
          <p:cNvSpPr/>
          <p:nvPr/>
        </p:nvSpPr>
        <p:spPr>
          <a:xfrm>
            <a:off x="571500" y="1790700"/>
            <a:ext cx="5295900"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Encoding:</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One-hot encoding with reference categories (Male, Freelancer, Android)</a:t>
            </a:r>
            <a:endParaRPr lang="en-US" sz="1600" dirty="0"/>
          </a:p>
        </p:txBody>
      </p:sp>
      <p:sp>
        <p:nvSpPr>
          <p:cNvPr id="9" name="Text 7"/>
          <p:cNvSpPr/>
          <p:nvPr/>
        </p:nvSpPr>
        <p:spPr>
          <a:xfrm>
            <a:off x="571500" y="23241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Train/Test Split:</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70/30 using stratified sampling</a:t>
            </a:r>
            <a:endParaRPr lang="en-US" sz="1600" dirty="0"/>
          </a:p>
        </p:txBody>
      </p:sp>
      <p:sp>
        <p:nvSpPr>
          <p:cNvPr id="10" name="Text 8"/>
          <p:cNvSpPr/>
          <p:nvPr/>
        </p:nvSpPr>
        <p:spPr>
          <a:xfrm>
            <a:off x="571500" y="26289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Evaluation:</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All metrics on held-out test set only</a:t>
            </a:r>
            <a:endParaRPr lang="en-US" sz="1600" dirty="0"/>
          </a:p>
        </p:txBody>
      </p:sp>
      <p:sp>
        <p:nvSpPr>
          <p:cNvPr id="11" name="Shape 9"/>
          <p:cNvSpPr/>
          <p:nvPr/>
        </p:nvSpPr>
        <p:spPr>
          <a:xfrm>
            <a:off x="6210300" y="1219200"/>
            <a:ext cx="5600700" cy="1828800"/>
          </a:xfrm>
          <a:custGeom>
            <a:avLst/>
            <a:gdLst/>
            <a:ahLst/>
            <a:cxnLst/>
            <a:rect l="l" t="t" r="r" b="b"/>
            <a:pathLst>
              <a:path w="5600700" h="1828800">
                <a:moveTo>
                  <a:pt x="0" y="0"/>
                </a:moveTo>
                <a:lnTo>
                  <a:pt x="5600700" y="0"/>
                </a:lnTo>
                <a:lnTo>
                  <a:pt x="5600700" y="1828800"/>
                </a:lnTo>
                <a:lnTo>
                  <a:pt x="0" y="1828800"/>
                </a:lnTo>
                <a:lnTo>
                  <a:pt x="0" y="0"/>
                </a:lnTo>
                <a:close/>
              </a:path>
            </a:pathLst>
          </a:custGeom>
          <a:solidFill>
            <a:srgbClr val="F9FAFB"/>
          </a:solidFill>
          <a:ln/>
        </p:spPr>
      </p:sp>
      <p:sp>
        <p:nvSpPr>
          <p:cNvPr id="12" name="Text 10"/>
          <p:cNvSpPr/>
          <p:nvPr/>
        </p:nvSpPr>
        <p:spPr>
          <a:xfrm>
            <a:off x="6400800" y="1409700"/>
            <a:ext cx="53149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Models</a:t>
            </a:r>
            <a:endParaRPr lang="en-US" sz="1600" dirty="0"/>
          </a:p>
        </p:txBody>
      </p:sp>
      <p:sp>
        <p:nvSpPr>
          <p:cNvPr id="13" name="Text 11"/>
          <p:cNvSpPr/>
          <p:nvPr/>
        </p:nvSpPr>
        <p:spPr>
          <a:xfrm>
            <a:off x="6400800" y="17907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Linear Regression:</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Interpretable baseline</a:t>
            </a:r>
            <a:endParaRPr lang="en-US" sz="1600" dirty="0"/>
          </a:p>
        </p:txBody>
      </p:sp>
      <p:sp>
        <p:nvSpPr>
          <p:cNvPr id="14" name="Text 12"/>
          <p:cNvSpPr/>
          <p:nvPr/>
        </p:nvSpPr>
        <p:spPr>
          <a:xfrm>
            <a:off x="6400800" y="20955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Random Forest:</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300 trees, checks for non-linear patterns</a:t>
            </a:r>
            <a:endParaRPr lang="en-US" sz="1600" dirty="0"/>
          </a:p>
        </p:txBody>
      </p:sp>
      <p:sp>
        <p:nvSpPr>
          <p:cNvPr id="15" name="Text 13"/>
          <p:cNvSpPr/>
          <p:nvPr/>
        </p:nvSpPr>
        <p:spPr>
          <a:xfrm>
            <a:off x="6400800" y="2400300"/>
            <a:ext cx="529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Metrics:</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RMSE and R² on test set</a:t>
            </a:r>
            <a:endParaRPr lang="en-US" sz="1600" dirty="0"/>
          </a:p>
        </p:txBody>
      </p:sp>
      <p:sp>
        <p:nvSpPr>
          <p:cNvPr id="16" name="Shape 14"/>
          <p:cNvSpPr/>
          <p:nvPr/>
        </p:nvSpPr>
        <p:spPr>
          <a:xfrm>
            <a:off x="385763" y="3205163"/>
            <a:ext cx="5591175" cy="1343025"/>
          </a:xfrm>
          <a:custGeom>
            <a:avLst/>
            <a:gdLst/>
            <a:ahLst/>
            <a:cxnLst/>
            <a:rect l="l" t="t" r="r" b="b"/>
            <a:pathLst>
              <a:path w="5591175" h="1343025">
                <a:moveTo>
                  <a:pt x="0" y="0"/>
                </a:moveTo>
                <a:lnTo>
                  <a:pt x="5591175" y="0"/>
                </a:lnTo>
                <a:lnTo>
                  <a:pt x="5591175" y="1343025"/>
                </a:lnTo>
                <a:lnTo>
                  <a:pt x="0" y="1343025"/>
                </a:lnTo>
                <a:lnTo>
                  <a:pt x="0" y="0"/>
                </a:lnTo>
                <a:close/>
              </a:path>
            </a:pathLst>
          </a:custGeom>
          <a:solidFill>
            <a:srgbClr val="FFFFFF"/>
          </a:solidFill>
          <a:ln w="12700">
            <a:solidFill>
              <a:srgbClr val="E5E7EB"/>
            </a:solidFill>
            <a:prstDash val="solid"/>
          </a:ln>
        </p:spPr>
      </p:sp>
      <p:sp>
        <p:nvSpPr>
          <p:cNvPr id="17" name="Text 15"/>
          <p:cNvSpPr/>
          <p:nvPr/>
        </p:nvSpPr>
        <p:spPr>
          <a:xfrm>
            <a:off x="504825" y="3362325"/>
            <a:ext cx="53530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Feature Importance — Random Forest</a:t>
            </a:r>
            <a:endParaRPr lang="en-US" sz="160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542925" y="3667125"/>
            <a:ext cx="5276850" cy="952500"/>
          </a:xfrm>
          <a:prstGeom prst="roundRect">
            <a:avLst>
              <a:gd name="adj" fmla="val 0"/>
            </a:avLst>
          </a:prstGeom>
        </p:spPr>
      </p:pic>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542925" y="3667125"/>
            <a:ext cx="5276850" cy="952500"/>
          </a:xfrm>
          <a:prstGeom prst="roundRect">
            <a:avLst>
              <a:gd name="adj" fmla="val 0"/>
            </a:avLst>
          </a:prstGeom>
        </p:spPr>
      </p:pic>
      <p:pic>
        <p:nvPicPr>
          <p:cNvPr id="20" name="Image 2"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542925" y="3667125"/>
            <a:ext cx="5276850" cy="952500"/>
          </a:xfrm>
          <a:prstGeom prst="roundRect">
            <a:avLst>
              <a:gd name="adj" fmla="val 0"/>
            </a:avLst>
          </a:prstGeom>
        </p:spPr>
      </p:pic>
      <p:sp>
        <p:nvSpPr>
          <p:cNvPr id="21" name="Shape 16"/>
          <p:cNvSpPr/>
          <p:nvPr/>
        </p:nvSpPr>
        <p:spPr>
          <a:xfrm>
            <a:off x="6215063" y="3205163"/>
            <a:ext cx="5591175" cy="1343025"/>
          </a:xfrm>
          <a:custGeom>
            <a:avLst/>
            <a:gdLst/>
            <a:ahLst/>
            <a:cxnLst/>
            <a:rect l="l" t="t" r="r" b="b"/>
            <a:pathLst>
              <a:path w="5591175" h="1343025">
                <a:moveTo>
                  <a:pt x="0" y="0"/>
                </a:moveTo>
                <a:lnTo>
                  <a:pt x="5591175" y="0"/>
                </a:lnTo>
                <a:lnTo>
                  <a:pt x="5591175" y="1343025"/>
                </a:lnTo>
                <a:lnTo>
                  <a:pt x="0" y="1343025"/>
                </a:lnTo>
                <a:lnTo>
                  <a:pt x="0" y="0"/>
                </a:lnTo>
                <a:close/>
              </a:path>
            </a:pathLst>
          </a:custGeom>
          <a:solidFill>
            <a:srgbClr val="FFFFFF"/>
          </a:solidFill>
          <a:ln w="12700">
            <a:solidFill>
              <a:srgbClr val="E5E7EB"/>
            </a:solidFill>
            <a:prstDash val="solid"/>
          </a:ln>
        </p:spPr>
      </p:sp>
      <p:sp>
        <p:nvSpPr>
          <p:cNvPr id="22" name="Text 17"/>
          <p:cNvSpPr/>
          <p:nvPr/>
        </p:nvSpPr>
        <p:spPr>
          <a:xfrm>
            <a:off x="6334125" y="3362325"/>
            <a:ext cx="53530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Actual vs Predicted — Productivity</a:t>
            </a:r>
            <a:endParaRPr lang="en-US" sz="1600" dirty="0"/>
          </a:p>
        </p:txBody>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6372225" y="3667125"/>
            <a:ext cx="5276850" cy="952500"/>
          </a:xfrm>
          <a:prstGeom prst="roundRect">
            <a:avLst>
              <a:gd name="adj" fmla="val 0"/>
            </a:avLst>
          </a:prstGeom>
        </p:spPr>
      </p:pic>
      <p:pic>
        <p:nvPicPr>
          <p:cNvPr id="24" name="Image 4" descr="preencoded.png">    </p:cNvPr>
          <p:cNvPicPr>
            <a:picLocks noChangeAspect="1"/>
          </p:cNvPicPr>
          <p:nvPr/>
        </p:nvPicPr>
        <p:blipFill>
          <a:blip r:embed="rId9">
            <a:extLst>
              <a:ext uri="{96DAC541-7B7A-43D3-8B79-37D633B846F1}">
                <asvg:svgBlip xmlns:asvg="http://schemas.microsoft.com/office/drawing/2016/SVG/main" r:embed="rId10"/>
              </a:ext>
            </a:extLst>
          </a:blip>
          <a:srcRect l="0" r="0" t="0" b="0"/>
          <a:stretch/>
        </p:blipFill>
        <p:spPr>
          <a:xfrm>
            <a:off x="6372225" y="3667125"/>
            <a:ext cx="5276850" cy="952500"/>
          </a:xfrm>
          <a:prstGeom prst="roundRect">
            <a:avLst>
              <a:gd name="adj" fmla="val 0"/>
            </a:avLst>
          </a:prstGeom>
        </p:spPr>
      </p:pic>
      <p:pic>
        <p:nvPicPr>
          <p:cNvPr id="2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6372225" y="3667125"/>
            <a:ext cx="5276850" cy="952500"/>
          </a:xfrm>
          <a:prstGeom prst="roundRect">
            <a:avLst>
              <a:gd name="adj" fmla="val 0"/>
            </a:avLst>
          </a:prstGeom>
        </p:spPr>
      </p:pic>
      <p:sp>
        <p:nvSpPr>
          <p:cNvPr id="26" name="Shape 18"/>
          <p:cNvSpPr/>
          <p:nvPr/>
        </p:nvSpPr>
        <p:spPr>
          <a:xfrm>
            <a:off x="400050" y="4705350"/>
            <a:ext cx="11410950" cy="1390650"/>
          </a:xfrm>
          <a:custGeom>
            <a:avLst/>
            <a:gdLst/>
            <a:ahLst/>
            <a:cxnLst/>
            <a:rect l="l" t="t" r="r" b="b"/>
            <a:pathLst>
              <a:path w="11410950" h="1390650">
                <a:moveTo>
                  <a:pt x="0" y="0"/>
                </a:moveTo>
                <a:lnTo>
                  <a:pt x="11410950" y="0"/>
                </a:lnTo>
                <a:lnTo>
                  <a:pt x="11410950" y="1390650"/>
                </a:lnTo>
                <a:lnTo>
                  <a:pt x="0" y="1390650"/>
                </a:lnTo>
                <a:lnTo>
                  <a:pt x="0" y="0"/>
                </a:lnTo>
                <a:close/>
              </a:path>
            </a:pathLst>
          </a:custGeom>
          <a:solidFill>
            <a:srgbClr val="8B0000">
              <a:alpha val="5098"/>
            </a:srgbClr>
          </a:solidFill>
          <a:ln/>
        </p:spPr>
      </p:sp>
      <p:sp>
        <p:nvSpPr>
          <p:cNvPr id="27" name="Shape 19"/>
          <p:cNvSpPr/>
          <p:nvPr/>
        </p:nvSpPr>
        <p:spPr>
          <a:xfrm>
            <a:off x="400050" y="4705350"/>
            <a:ext cx="38100" cy="1390650"/>
          </a:xfrm>
          <a:custGeom>
            <a:avLst/>
            <a:gdLst/>
            <a:ahLst/>
            <a:cxnLst/>
            <a:rect l="l" t="t" r="r" b="b"/>
            <a:pathLst>
              <a:path w="38100" h="1390650">
                <a:moveTo>
                  <a:pt x="0" y="0"/>
                </a:moveTo>
                <a:lnTo>
                  <a:pt x="38100" y="0"/>
                </a:lnTo>
                <a:lnTo>
                  <a:pt x="38100" y="1390650"/>
                </a:lnTo>
                <a:lnTo>
                  <a:pt x="0" y="1390650"/>
                </a:lnTo>
                <a:lnTo>
                  <a:pt x="0" y="0"/>
                </a:lnTo>
                <a:close/>
              </a:path>
            </a:pathLst>
          </a:custGeom>
          <a:solidFill>
            <a:srgbClr val="8B0000"/>
          </a:solidFill>
          <a:ln/>
        </p:spPr>
      </p:sp>
      <p:sp>
        <p:nvSpPr>
          <p:cNvPr id="28" name="Text 20"/>
          <p:cNvSpPr/>
          <p:nvPr/>
        </p:nvSpPr>
        <p:spPr>
          <a:xfrm>
            <a:off x="571500" y="4857750"/>
            <a:ext cx="11172825" cy="266700"/>
          </a:xfrm>
          <a:prstGeom prst="rect">
            <a:avLst/>
          </a:prstGeom>
          <a:noFill/>
          <a:ln/>
        </p:spPr>
        <p:txBody>
          <a:bodyPr wrap="square" lIns="0" tIns="0" rIns="0" bIns="0" rtlCol="0" anchor="ctr"/>
          <a:lstStyle/>
          <a:p>
            <a:pPr>
              <a:lnSpc>
                <a:spcPct val="130000"/>
              </a:lnSpc>
            </a:pPr>
            <a:r>
              <a:rPr lang="en-US" sz="1350" b="1" dirty="0">
                <a:solidFill>
                  <a:srgbClr val="8B0000"/>
                </a:solidFill>
                <a:latin typeface="Sorts Mill Goudy" pitchFamily="34" charset="0"/>
                <a:ea typeface="Sorts Mill Goudy" pitchFamily="34" charset="-122"/>
                <a:cs typeface="Sorts Mill Goudy" pitchFamily="34" charset="-120"/>
              </a:rPr>
              <a:t>Key Findings</a:t>
            </a:r>
            <a:endParaRPr lang="en-US" sz="1600" dirty="0"/>
          </a:p>
        </p:txBody>
      </p:sp>
      <p:sp>
        <p:nvSpPr>
          <p:cNvPr id="29" name="Text 21"/>
          <p:cNvSpPr/>
          <p:nvPr/>
        </p:nvSpPr>
        <p:spPr>
          <a:xfrm>
            <a:off x="571500" y="5200650"/>
            <a:ext cx="11163300" cy="742950"/>
          </a:xfrm>
          <a:prstGeom prst="rect">
            <a:avLst/>
          </a:prstGeom>
          <a:noFill/>
          <a:ln/>
        </p:spPr>
        <p:txBody>
          <a:bodyPr wrap="square" lIns="0" tIns="0" rIns="0" bIns="0" rtlCol="0" anchor="ctr"/>
          <a:lstStyle/>
          <a:p>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Caffeine_Intake_Cups</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and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Daily_Phone_Hours</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show slightly positive importance, but values are near zero for all variables — confirming that no predictor reliably improves predictions. Predictions cluster in a narrow band around 5–6 regardless of actual value, characteristic of a model that has learned the marginal mean but cannot predict individual outcomes.</a:t>
            </a:r>
            <a:endParaRPr lang="en-US" sz="1600" dirty="0"/>
          </a:p>
        </p:txBody>
      </p:sp>
      <p:sp>
        <p:nvSpPr>
          <p:cNvPr id="30" name="Text 22"/>
          <p:cNvSpPr/>
          <p:nvPr/>
        </p:nvSpPr>
        <p:spPr>
          <a:xfrm>
            <a:off x="381000" y="6248400"/>
            <a:ext cx="11506200"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Figure 6:</a:t>
            </a:r>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 Permutation feature importance and actual vs predicted scatterplot for Random Forest regression model.</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45720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3" name="Text 1"/>
          <p:cNvSpPr/>
          <p:nvPr/>
        </p:nvSpPr>
        <p:spPr>
          <a:xfrm>
            <a:off x="323850" y="457200"/>
            <a:ext cx="571500" cy="457200"/>
          </a:xfrm>
          <a:prstGeom prst="rect">
            <a:avLst/>
          </a:prstGeom>
          <a:noFill/>
          <a:ln/>
        </p:spPr>
        <p:txBody>
          <a:bodyPr wrap="square" lIns="0" tIns="0" rIns="0" bIns="0" rtlCol="0" anchor="ctr"/>
          <a:lstStyle/>
          <a:p>
            <a:pPr algn="ctr">
              <a:lnSpc>
                <a:spcPct val="110000"/>
              </a:lnSpc>
            </a:pPr>
            <a:r>
              <a:rPr lang="en-US" sz="1800" b="1" dirty="0">
                <a:solidFill>
                  <a:srgbClr val="FFFFFF"/>
                </a:solidFill>
                <a:latin typeface="Sorts Mill Goudy" pitchFamily="34" charset="0"/>
                <a:ea typeface="Sorts Mill Goudy" pitchFamily="34" charset="-122"/>
                <a:cs typeface="Sorts Mill Goudy" pitchFamily="34" charset="-120"/>
              </a:rPr>
              <a:t>5.2</a:t>
            </a:r>
            <a:endParaRPr lang="en-US" sz="1600" dirty="0"/>
          </a:p>
        </p:txBody>
      </p:sp>
      <p:sp>
        <p:nvSpPr>
          <p:cNvPr id="4" name="Text 2"/>
          <p:cNvSpPr/>
          <p:nvPr/>
        </p:nvSpPr>
        <p:spPr>
          <a:xfrm>
            <a:off x="952500" y="381000"/>
            <a:ext cx="4705350" cy="228600"/>
          </a:xfrm>
          <a:prstGeom prst="rect">
            <a:avLst/>
          </a:prstGeom>
          <a:noFill/>
          <a:ln/>
        </p:spPr>
        <p:txBody>
          <a:bodyPr wrap="square" lIns="0" tIns="0" rIns="0" bIns="0" rtlCol="0" anchor="ctr"/>
          <a:lstStyle/>
          <a:p>
            <a:pPr>
              <a:lnSpc>
                <a:spcPct val="130000"/>
              </a:lnSpc>
            </a:pPr>
            <a:r>
              <a:rPr lang="en-US" sz="1200" b="1" spc="60" kern="0" dirty="0">
                <a:solidFill>
                  <a:srgbClr val="8B0000"/>
                </a:solidFill>
                <a:latin typeface="Sorts Mill Goudy" pitchFamily="34" charset="0"/>
                <a:ea typeface="Sorts Mill Goudy" pitchFamily="34" charset="-122"/>
                <a:cs typeface="Sorts Mill Goudy" pitchFamily="34" charset="-120"/>
              </a:rPr>
              <a:t>SUPERVISED ANALYSIS</a:t>
            </a:r>
            <a:endParaRPr lang="en-US" sz="1600" dirty="0"/>
          </a:p>
        </p:txBody>
      </p:sp>
      <p:sp>
        <p:nvSpPr>
          <p:cNvPr id="5" name="Text 3"/>
          <p:cNvSpPr/>
          <p:nvPr/>
        </p:nvSpPr>
        <p:spPr>
          <a:xfrm>
            <a:off x="952500" y="609600"/>
            <a:ext cx="480060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Classification: Predicting Stress</a:t>
            </a:r>
            <a:endParaRPr lang="en-US" sz="1600" dirty="0"/>
          </a:p>
        </p:txBody>
      </p:sp>
      <p:sp>
        <p:nvSpPr>
          <p:cNvPr id="6" name="Shape 4"/>
          <p:cNvSpPr/>
          <p:nvPr/>
        </p:nvSpPr>
        <p:spPr>
          <a:xfrm>
            <a:off x="381000" y="1219200"/>
            <a:ext cx="3657600" cy="2000250"/>
          </a:xfrm>
          <a:custGeom>
            <a:avLst/>
            <a:gdLst/>
            <a:ahLst/>
            <a:cxnLst/>
            <a:rect l="l" t="t" r="r" b="b"/>
            <a:pathLst>
              <a:path w="3657600" h="2000250">
                <a:moveTo>
                  <a:pt x="0" y="0"/>
                </a:moveTo>
                <a:lnTo>
                  <a:pt x="3657600" y="0"/>
                </a:lnTo>
                <a:lnTo>
                  <a:pt x="3657600" y="2000250"/>
                </a:lnTo>
                <a:lnTo>
                  <a:pt x="0" y="2000250"/>
                </a:lnTo>
                <a:lnTo>
                  <a:pt x="0" y="0"/>
                </a:lnTo>
                <a:close/>
              </a:path>
            </a:pathLst>
          </a:custGeom>
          <a:solidFill>
            <a:srgbClr val="F9FAFB"/>
          </a:solidFill>
          <a:ln/>
        </p:spPr>
      </p:sp>
      <p:sp>
        <p:nvSpPr>
          <p:cNvPr id="7" name="Text 5"/>
          <p:cNvSpPr/>
          <p:nvPr/>
        </p:nvSpPr>
        <p:spPr>
          <a:xfrm>
            <a:off x="571500" y="1409700"/>
            <a:ext cx="33718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Task Definition</a:t>
            </a:r>
            <a:endParaRPr lang="en-US" sz="1600" dirty="0"/>
          </a:p>
        </p:txBody>
      </p:sp>
      <p:sp>
        <p:nvSpPr>
          <p:cNvPr id="8" name="Text 6"/>
          <p:cNvSpPr/>
          <p:nvPr/>
        </p:nvSpPr>
        <p:spPr>
          <a:xfrm>
            <a:off x="571500" y="1790700"/>
            <a:ext cx="3352800" cy="247650"/>
          </a:xfrm>
          <a:prstGeom prst="rect">
            <a:avLst/>
          </a:prstGeom>
          <a:noFill/>
          <a:ln/>
        </p:spPr>
        <p:txBody>
          <a:bodyPr wrap="square" lIns="0" tIns="0" rIns="0" bIns="0" rtlCol="0" anchor="ctr"/>
          <a:lstStyle/>
          <a:p>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Stress_Level</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binarized using median split at 6:</a:t>
            </a:r>
            <a:endParaRPr lang="en-US" sz="1600" dirty="0"/>
          </a:p>
        </p:txBody>
      </p:sp>
      <p:sp>
        <p:nvSpPr>
          <p:cNvPr id="9" name="Shape 7"/>
          <p:cNvSpPr/>
          <p:nvPr/>
        </p:nvSpPr>
        <p:spPr>
          <a:xfrm>
            <a:off x="571500" y="2119313"/>
            <a:ext cx="849362" cy="295275"/>
          </a:xfrm>
          <a:custGeom>
            <a:avLst/>
            <a:gdLst/>
            <a:ahLst/>
            <a:cxnLst/>
            <a:rect l="l" t="t" r="r" b="b"/>
            <a:pathLst>
              <a:path w="849362" h="295275">
                <a:moveTo>
                  <a:pt x="0" y="0"/>
                </a:moveTo>
                <a:lnTo>
                  <a:pt x="849362" y="0"/>
                </a:lnTo>
                <a:lnTo>
                  <a:pt x="849362" y="295275"/>
                </a:lnTo>
                <a:lnTo>
                  <a:pt x="0" y="295275"/>
                </a:lnTo>
                <a:lnTo>
                  <a:pt x="0" y="0"/>
                </a:lnTo>
                <a:close/>
              </a:path>
            </a:pathLst>
          </a:custGeom>
          <a:solidFill>
            <a:srgbClr val="5B8DB8"/>
          </a:solidFill>
          <a:ln/>
        </p:spPr>
      </p:sp>
      <p:sp>
        <p:nvSpPr>
          <p:cNvPr id="10" name="Text 8"/>
          <p:cNvSpPr/>
          <p:nvPr/>
        </p:nvSpPr>
        <p:spPr>
          <a:xfrm>
            <a:off x="571500" y="2119313"/>
            <a:ext cx="925562" cy="295275"/>
          </a:xfrm>
          <a:prstGeom prst="rect">
            <a:avLst/>
          </a:prstGeom>
          <a:noFill/>
          <a:ln/>
        </p:spPr>
        <p:txBody>
          <a:bodyPr wrap="square" lIns="114300" tIns="38100" rIns="114300" bIns="38100" rtlCol="0" anchor="ctr"/>
          <a:lstStyle/>
          <a:p>
            <a:pPr>
              <a:lnSpc>
                <a:spcPct val="130000"/>
              </a:lnSpc>
            </a:pPr>
            <a:r>
              <a:rPr lang="en-US" sz="1200" dirty="0">
                <a:solidFill>
                  <a:srgbClr val="FFFFFF"/>
                </a:solidFill>
                <a:latin typeface="Sorts Mill Goudy" pitchFamily="34" charset="0"/>
                <a:ea typeface="Sorts Mill Goudy" pitchFamily="34" charset="-122"/>
                <a:cs typeface="Sorts Mill Goudy" pitchFamily="34" charset="-120"/>
              </a:rPr>
              <a:t>High ≥ 6</a:t>
            </a:r>
            <a:endParaRPr lang="en-US" sz="1600" dirty="0"/>
          </a:p>
        </p:txBody>
      </p:sp>
      <p:sp>
        <p:nvSpPr>
          <p:cNvPr id="11" name="Shape 9"/>
          <p:cNvSpPr/>
          <p:nvPr/>
        </p:nvSpPr>
        <p:spPr>
          <a:xfrm>
            <a:off x="571500" y="2424113"/>
            <a:ext cx="738857" cy="295275"/>
          </a:xfrm>
          <a:custGeom>
            <a:avLst/>
            <a:gdLst/>
            <a:ahLst/>
            <a:cxnLst/>
            <a:rect l="l" t="t" r="r" b="b"/>
            <a:pathLst>
              <a:path w="738857" h="295275">
                <a:moveTo>
                  <a:pt x="0" y="0"/>
                </a:moveTo>
                <a:lnTo>
                  <a:pt x="738857" y="0"/>
                </a:lnTo>
                <a:lnTo>
                  <a:pt x="738857" y="295275"/>
                </a:lnTo>
                <a:lnTo>
                  <a:pt x="0" y="295275"/>
                </a:lnTo>
                <a:lnTo>
                  <a:pt x="0" y="0"/>
                </a:lnTo>
                <a:close/>
              </a:path>
            </a:pathLst>
          </a:custGeom>
          <a:solidFill>
            <a:srgbClr val="C1714F"/>
          </a:solidFill>
          <a:ln/>
        </p:spPr>
      </p:sp>
      <p:sp>
        <p:nvSpPr>
          <p:cNvPr id="12" name="Text 10"/>
          <p:cNvSpPr/>
          <p:nvPr/>
        </p:nvSpPr>
        <p:spPr>
          <a:xfrm>
            <a:off x="571500" y="2424113"/>
            <a:ext cx="815057" cy="295275"/>
          </a:xfrm>
          <a:prstGeom prst="rect">
            <a:avLst/>
          </a:prstGeom>
          <a:noFill/>
          <a:ln/>
        </p:spPr>
        <p:txBody>
          <a:bodyPr wrap="square" lIns="114300" tIns="38100" rIns="114300" bIns="38100" rtlCol="0" anchor="ctr"/>
          <a:lstStyle/>
          <a:p>
            <a:pPr>
              <a:lnSpc>
                <a:spcPct val="130000"/>
              </a:lnSpc>
            </a:pPr>
            <a:r>
              <a:rPr lang="en-US" sz="1200" dirty="0">
                <a:solidFill>
                  <a:srgbClr val="FFFFFF"/>
                </a:solidFill>
                <a:latin typeface="Sorts Mill Goudy" pitchFamily="34" charset="0"/>
                <a:ea typeface="Sorts Mill Goudy" pitchFamily="34" charset="-122"/>
                <a:cs typeface="Sorts Mill Goudy" pitchFamily="34" charset="-120"/>
              </a:rPr>
              <a:t>Low &lt; 6</a:t>
            </a:r>
            <a:endParaRPr lang="en-US" sz="1600" dirty="0"/>
          </a:p>
        </p:txBody>
      </p:sp>
      <p:sp>
        <p:nvSpPr>
          <p:cNvPr id="13" name="Text 11"/>
          <p:cNvSpPr/>
          <p:nvPr/>
        </p:nvSpPr>
        <p:spPr>
          <a:xfrm>
            <a:off x="571500" y="2800350"/>
            <a:ext cx="3352800" cy="228600"/>
          </a:xfrm>
          <a:prstGeom prst="rect">
            <a:avLst/>
          </a:prstGeom>
          <a:noFill/>
          <a:ln/>
        </p:spPr>
        <p:txBody>
          <a:bodyPr wrap="square" lIns="0" tIns="0" rIns="0" bIns="0" rtlCol="0" anchor="ctr"/>
          <a:lstStyle/>
          <a:p>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Produces balanced classes.</a:t>
            </a:r>
            <a:endParaRPr lang="en-US" sz="1600" dirty="0"/>
          </a:p>
        </p:txBody>
      </p:sp>
      <p:sp>
        <p:nvSpPr>
          <p:cNvPr id="14" name="Shape 12"/>
          <p:cNvSpPr/>
          <p:nvPr/>
        </p:nvSpPr>
        <p:spPr>
          <a:xfrm>
            <a:off x="4267200" y="1219200"/>
            <a:ext cx="3657600" cy="2000250"/>
          </a:xfrm>
          <a:custGeom>
            <a:avLst/>
            <a:gdLst/>
            <a:ahLst/>
            <a:cxnLst/>
            <a:rect l="l" t="t" r="r" b="b"/>
            <a:pathLst>
              <a:path w="3657600" h="2000250">
                <a:moveTo>
                  <a:pt x="0" y="0"/>
                </a:moveTo>
                <a:lnTo>
                  <a:pt x="3657600" y="0"/>
                </a:lnTo>
                <a:lnTo>
                  <a:pt x="3657600" y="2000250"/>
                </a:lnTo>
                <a:lnTo>
                  <a:pt x="0" y="2000250"/>
                </a:lnTo>
                <a:lnTo>
                  <a:pt x="0" y="0"/>
                </a:lnTo>
                <a:close/>
              </a:path>
            </a:pathLst>
          </a:custGeom>
          <a:solidFill>
            <a:srgbClr val="F9FAFB"/>
          </a:solidFill>
          <a:ln/>
        </p:spPr>
      </p:sp>
      <p:sp>
        <p:nvSpPr>
          <p:cNvPr id="15" name="Text 13"/>
          <p:cNvSpPr/>
          <p:nvPr/>
        </p:nvSpPr>
        <p:spPr>
          <a:xfrm>
            <a:off x="4457700" y="1409700"/>
            <a:ext cx="33718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Models</a:t>
            </a:r>
            <a:endParaRPr lang="en-US" sz="1600" dirty="0"/>
          </a:p>
        </p:txBody>
      </p:sp>
      <p:sp>
        <p:nvSpPr>
          <p:cNvPr id="16" name="Text 14"/>
          <p:cNvSpPr/>
          <p:nvPr/>
        </p:nvSpPr>
        <p:spPr>
          <a:xfrm>
            <a:off x="4457700" y="1790700"/>
            <a:ext cx="33528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Logistic Regression:</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Baseline model</a:t>
            </a:r>
            <a:endParaRPr lang="en-US" sz="1600" dirty="0"/>
          </a:p>
        </p:txBody>
      </p:sp>
      <p:sp>
        <p:nvSpPr>
          <p:cNvPr id="17" name="Text 15"/>
          <p:cNvSpPr/>
          <p:nvPr/>
        </p:nvSpPr>
        <p:spPr>
          <a:xfrm>
            <a:off x="4457700" y="2095500"/>
            <a:ext cx="33528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Random Forest:</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Complex alternative (300 trees)</a:t>
            </a:r>
            <a:endParaRPr lang="en-US" sz="1600" dirty="0"/>
          </a:p>
        </p:txBody>
      </p:sp>
      <p:sp>
        <p:nvSpPr>
          <p:cNvPr id="18" name="Text 16"/>
          <p:cNvSpPr/>
          <p:nvPr/>
        </p:nvSpPr>
        <p:spPr>
          <a:xfrm>
            <a:off x="4457700" y="2400300"/>
            <a:ext cx="33528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 Evaluation:</a:t>
            </a:r>
            <a:pPr>
              <a:lnSpc>
                <a:spcPct val="130000"/>
              </a:lnSpc>
            </a:pPr>
            <a:r>
              <a:rPr lang="en-US" sz="1200" dirty="0">
                <a:solidFill>
                  <a:srgbClr val="1F2937"/>
                </a:solidFill>
                <a:latin typeface="Sorts Mill Goudy" pitchFamily="34" charset="0"/>
                <a:ea typeface="Sorts Mill Goudy" pitchFamily="34" charset="-122"/>
                <a:cs typeface="Sorts Mill Goudy" pitchFamily="34" charset="-120"/>
              </a:rPr>
              <a:t> Accuracy and confusion matrix</a:t>
            </a:r>
            <a:endParaRPr lang="en-US" sz="1600" dirty="0"/>
          </a:p>
        </p:txBody>
      </p:sp>
      <p:sp>
        <p:nvSpPr>
          <p:cNvPr id="19" name="Shape 17"/>
          <p:cNvSpPr/>
          <p:nvPr/>
        </p:nvSpPr>
        <p:spPr>
          <a:xfrm>
            <a:off x="8172450" y="1219200"/>
            <a:ext cx="3638550" cy="2000250"/>
          </a:xfrm>
          <a:custGeom>
            <a:avLst/>
            <a:gdLst/>
            <a:ahLst/>
            <a:cxnLst/>
            <a:rect l="l" t="t" r="r" b="b"/>
            <a:pathLst>
              <a:path w="3638550" h="2000250">
                <a:moveTo>
                  <a:pt x="0" y="0"/>
                </a:moveTo>
                <a:lnTo>
                  <a:pt x="3638550" y="0"/>
                </a:lnTo>
                <a:lnTo>
                  <a:pt x="3638550" y="2000250"/>
                </a:lnTo>
                <a:lnTo>
                  <a:pt x="0" y="2000250"/>
                </a:lnTo>
                <a:lnTo>
                  <a:pt x="0" y="0"/>
                </a:lnTo>
                <a:close/>
              </a:path>
            </a:pathLst>
          </a:custGeom>
          <a:solidFill>
            <a:srgbClr val="8B0000">
              <a:alpha val="5098"/>
            </a:srgbClr>
          </a:solidFill>
          <a:ln/>
        </p:spPr>
      </p:sp>
      <p:sp>
        <p:nvSpPr>
          <p:cNvPr id="20" name="Shape 18"/>
          <p:cNvSpPr/>
          <p:nvPr/>
        </p:nvSpPr>
        <p:spPr>
          <a:xfrm>
            <a:off x="8172450" y="1219200"/>
            <a:ext cx="38100" cy="2000250"/>
          </a:xfrm>
          <a:custGeom>
            <a:avLst/>
            <a:gdLst/>
            <a:ahLst/>
            <a:cxnLst/>
            <a:rect l="l" t="t" r="r" b="b"/>
            <a:pathLst>
              <a:path w="38100" h="2000250">
                <a:moveTo>
                  <a:pt x="0" y="0"/>
                </a:moveTo>
                <a:lnTo>
                  <a:pt x="38100" y="0"/>
                </a:lnTo>
                <a:lnTo>
                  <a:pt x="38100" y="2000250"/>
                </a:lnTo>
                <a:lnTo>
                  <a:pt x="0" y="2000250"/>
                </a:lnTo>
                <a:lnTo>
                  <a:pt x="0" y="0"/>
                </a:lnTo>
                <a:close/>
              </a:path>
            </a:pathLst>
          </a:custGeom>
          <a:solidFill>
            <a:srgbClr val="8B0000"/>
          </a:solidFill>
          <a:ln/>
        </p:spPr>
      </p:sp>
      <p:sp>
        <p:nvSpPr>
          <p:cNvPr id="21" name="Text 19"/>
          <p:cNvSpPr/>
          <p:nvPr/>
        </p:nvSpPr>
        <p:spPr>
          <a:xfrm>
            <a:off x="8382000" y="1409700"/>
            <a:ext cx="3333750" cy="266700"/>
          </a:xfrm>
          <a:prstGeom prst="rect">
            <a:avLst/>
          </a:prstGeom>
          <a:noFill/>
          <a:ln/>
        </p:spPr>
        <p:txBody>
          <a:bodyPr wrap="square" lIns="0" tIns="0" rIns="0" bIns="0" rtlCol="0" anchor="ctr"/>
          <a:lstStyle/>
          <a:p>
            <a:pPr>
              <a:lnSpc>
                <a:spcPct val="120000"/>
              </a:lnSpc>
            </a:pPr>
            <a:r>
              <a:rPr lang="en-US" sz="1500" b="1" dirty="0">
                <a:solidFill>
                  <a:srgbClr val="8B0000"/>
                </a:solidFill>
                <a:latin typeface="Sorts Mill Goudy" pitchFamily="34" charset="0"/>
                <a:ea typeface="Sorts Mill Goudy" pitchFamily="34" charset="-122"/>
                <a:cs typeface="Sorts Mill Goudy" pitchFamily="34" charset="-120"/>
              </a:rPr>
              <a:t>Key Finding</a:t>
            </a:r>
            <a:endParaRPr lang="en-US" sz="1600" dirty="0"/>
          </a:p>
        </p:txBody>
      </p:sp>
      <p:sp>
        <p:nvSpPr>
          <p:cNvPr id="22" name="Text 20"/>
          <p:cNvSpPr/>
          <p:nvPr/>
        </p:nvSpPr>
        <p:spPr>
          <a:xfrm>
            <a:off x="8382000" y="1790700"/>
            <a:ext cx="3314700" cy="1238250"/>
          </a:xfrm>
          <a:prstGeom prst="rect">
            <a:avLst/>
          </a:prstGeom>
          <a:noFill/>
          <a:ln/>
        </p:spPr>
        <p:txBody>
          <a:bodyPr wrap="square" lIns="0" tIns="0" rIns="0" bIns="0" rtlCol="0" anchor="ctr"/>
          <a:lstStyle/>
          <a:p>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other_gender</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and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student</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show slightly positive values while several variables show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negative importance</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 permuting them actually reduces error marginally, indicating no predictor provides reliable signal for classifying stress.</a:t>
            </a:r>
            <a:endParaRPr lang="en-US" sz="1600" dirty="0"/>
          </a:p>
        </p:txBody>
      </p:sp>
      <p:sp>
        <p:nvSpPr>
          <p:cNvPr id="23" name="Shape 21"/>
          <p:cNvSpPr/>
          <p:nvPr/>
        </p:nvSpPr>
        <p:spPr>
          <a:xfrm>
            <a:off x="385763" y="3376613"/>
            <a:ext cx="5591175" cy="1419225"/>
          </a:xfrm>
          <a:custGeom>
            <a:avLst/>
            <a:gdLst/>
            <a:ahLst/>
            <a:cxnLst/>
            <a:rect l="l" t="t" r="r" b="b"/>
            <a:pathLst>
              <a:path w="5591175" h="1419225">
                <a:moveTo>
                  <a:pt x="0" y="0"/>
                </a:moveTo>
                <a:lnTo>
                  <a:pt x="5591175" y="0"/>
                </a:lnTo>
                <a:lnTo>
                  <a:pt x="5591175" y="1419225"/>
                </a:lnTo>
                <a:lnTo>
                  <a:pt x="0" y="1419225"/>
                </a:lnTo>
                <a:lnTo>
                  <a:pt x="0" y="0"/>
                </a:lnTo>
                <a:close/>
              </a:path>
            </a:pathLst>
          </a:custGeom>
          <a:solidFill>
            <a:srgbClr val="FFFFFF"/>
          </a:solidFill>
          <a:ln w="12700">
            <a:solidFill>
              <a:srgbClr val="E5E7EB"/>
            </a:solidFill>
            <a:prstDash val="solid"/>
          </a:ln>
        </p:spPr>
      </p:sp>
      <p:sp>
        <p:nvSpPr>
          <p:cNvPr id="24" name="Text 22"/>
          <p:cNvSpPr/>
          <p:nvPr/>
        </p:nvSpPr>
        <p:spPr>
          <a:xfrm>
            <a:off x="504825" y="3533775"/>
            <a:ext cx="53530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Feature Importance — Random Forest</a:t>
            </a:r>
            <a:endParaRPr lang="en-US" sz="1600" dirty="0"/>
          </a:p>
        </p:txBody>
      </p:sp>
      <p:pic>
        <p:nvPicPr>
          <p:cNvPr id="25" name="Image 0" descr="preencoded.png">    </p:cNvPr>
          <p:cNvPicPr>
            <a:picLocks noChangeAspect="1"/>
          </p:cNvPicPr>
          <p:nvPr/>
        </p:nvPicPr>
        <p:blipFill>
          <a:blip r:embed="rId1">
            <a:extLst>
              <a:ext uri="{96DAC541-7B7A-43D3-8B79-37D633B846F1}">
                <asvg:svgBlip xmlns:asvg="http://schemas.microsoft.com/office/drawing/2016/SVG/main" r:embed="rId2"/>
              </a:ext>
            </a:extLst>
          </a:blip>
          <a:srcRect l="0" r="0" t="0" b="0"/>
          <a:stretch/>
        </p:blipFill>
        <p:spPr>
          <a:xfrm>
            <a:off x="542925" y="3838575"/>
            <a:ext cx="5276850" cy="800100"/>
          </a:xfrm>
          <a:prstGeom prst="roundRect">
            <a:avLst>
              <a:gd name="adj" fmla="val 0"/>
            </a:avLst>
          </a:prstGeom>
        </p:spPr>
      </p:pic>
      <p:pic>
        <p:nvPicPr>
          <p:cNvPr id="26" name="Image 1" descr="preencoded.png">    </p:cNvPr>
          <p:cNvPicPr>
            <a:picLocks noChangeAspect="1"/>
          </p:cNvPicPr>
          <p:nvPr/>
        </p:nvPicPr>
        <p:blipFill>
          <a:blip r:embed="rId3">
            <a:extLst>
              <a:ext uri="{96DAC541-7B7A-43D3-8B79-37D633B846F1}">
                <asvg:svgBlip xmlns:asvg="http://schemas.microsoft.com/office/drawing/2016/SVG/main" r:embed="rId4"/>
              </a:ext>
            </a:extLst>
          </a:blip>
          <a:srcRect l="0" r="0" t="0" b="0"/>
          <a:stretch/>
        </p:blipFill>
        <p:spPr>
          <a:xfrm>
            <a:off x="542925" y="3838575"/>
            <a:ext cx="5276850" cy="800100"/>
          </a:xfrm>
          <a:prstGeom prst="roundRect">
            <a:avLst>
              <a:gd name="adj" fmla="val 0"/>
            </a:avLst>
          </a:prstGeom>
        </p:spPr>
      </p:pic>
      <p:pic>
        <p:nvPicPr>
          <p:cNvPr id="27" name="Image 2" descr="preencoded.png">    </p:cNvPr>
          <p:cNvPicPr>
            <a:picLocks noChangeAspect="1"/>
          </p:cNvPicPr>
          <p:nvPr/>
        </p:nvPicPr>
        <p:blipFill>
          <a:blip r:embed="rId5">
            <a:extLst>
              <a:ext uri="{96DAC541-7B7A-43D3-8B79-37D633B846F1}">
                <asvg:svgBlip xmlns:asvg="http://schemas.microsoft.com/office/drawing/2016/SVG/main" r:embed="rId6"/>
              </a:ext>
            </a:extLst>
          </a:blip>
          <a:srcRect l="0" r="0" t="0" b="0"/>
          <a:stretch/>
        </p:blipFill>
        <p:spPr>
          <a:xfrm>
            <a:off x="542925" y="3838575"/>
            <a:ext cx="5276850" cy="800100"/>
          </a:xfrm>
          <a:prstGeom prst="roundRect">
            <a:avLst>
              <a:gd name="adj" fmla="val 0"/>
            </a:avLst>
          </a:prstGeom>
        </p:spPr>
      </p:pic>
      <p:sp>
        <p:nvSpPr>
          <p:cNvPr id="28" name="Shape 23"/>
          <p:cNvSpPr/>
          <p:nvPr/>
        </p:nvSpPr>
        <p:spPr>
          <a:xfrm>
            <a:off x="6215063" y="3376613"/>
            <a:ext cx="5591175" cy="1419225"/>
          </a:xfrm>
          <a:custGeom>
            <a:avLst/>
            <a:gdLst/>
            <a:ahLst/>
            <a:cxnLst/>
            <a:rect l="l" t="t" r="r" b="b"/>
            <a:pathLst>
              <a:path w="5591175" h="1419225">
                <a:moveTo>
                  <a:pt x="0" y="0"/>
                </a:moveTo>
                <a:lnTo>
                  <a:pt x="5591175" y="0"/>
                </a:lnTo>
                <a:lnTo>
                  <a:pt x="5591175" y="1419225"/>
                </a:lnTo>
                <a:lnTo>
                  <a:pt x="0" y="1419225"/>
                </a:lnTo>
                <a:lnTo>
                  <a:pt x="0" y="0"/>
                </a:lnTo>
                <a:close/>
              </a:path>
            </a:pathLst>
          </a:custGeom>
          <a:solidFill>
            <a:srgbClr val="FFFFFF"/>
          </a:solidFill>
          <a:ln w="12700">
            <a:solidFill>
              <a:srgbClr val="E5E7EB"/>
            </a:solidFill>
            <a:prstDash val="solid"/>
          </a:ln>
        </p:spPr>
      </p:sp>
      <p:sp>
        <p:nvSpPr>
          <p:cNvPr id="29" name="Text 24"/>
          <p:cNvSpPr/>
          <p:nvPr/>
        </p:nvSpPr>
        <p:spPr>
          <a:xfrm>
            <a:off x="6334125" y="3533775"/>
            <a:ext cx="5353050" cy="228600"/>
          </a:xfrm>
          <a:prstGeom prst="rect">
            <a:avLst/>
          </a:prstGeom>
          <a:noFill/>
          <a:ln/>
        </p:spPr>
        <p:txBody>
          <a:bodyPr wrap="square" lIns="0" tIns="0" rIns="0" bIns="0" rtlCol="0" anchor="ctr"/>
          <a:lstStyle/>
          <a:p>
            <a:pPr algn="ct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Confusion Matrix — Random Forest</a:t>
            </a:r>
            <a:endParaRPr lang="en-US" sz="1600" dirty="0"/>
          </a:p>
        </p:txBody>
      </p:sp>
      <p:pic>
        <p:nvPicPr>
          <p:cNvPr id="30" name="Image 3" descr="preencoded.png">    </p:cNvPr>
          <p:cNvPicPr>
            <a:picLocks noChangeAspect="1"/>
          </p:cNvPicPr>
          <p:nvPr/>
        </p:nvPicPr>
        <p:blipFill>
          <a:blip r:embed="rId7">
            <a:extLst>
              <a:ext uri="{96DAC541-7B7A-43D3-8B79-37D633B846F1}">
                <asvg:svgBlip xmlns:asvg="http://schemas.microsoft.com/office/drawing/2016/SVG/main" r:embed="rId8"/>
              </a:ext>
            </a:extLst>
          </a:blip>
          <a:srcRect l="0" r="0" t="0" b="0"/>
          <a:stretch/>
        </p:blipFill>
        <p:spPr>
          <a:xfrm>
            <a:off x="6372225" y="3838575"/>
            <a:ext cx="5276850" cy="800100"/>
          </a:xfrm>
          <a:prstGeom prst="roundRect">
            <a:avLst>
              <a:gd name="adj" fmla="val 0"/>
            </a:avLst>
          </a:prstGeom>
        </p:spPr>
      </p:pic>
      <p:pic>
        <p:nvPicPr>
          <p:cNvPr id="31" name="Image 4" descr="preencoded.png">    </p:cNvPr>
          <p:cNvPicPr>
            <a:picLocks noChangeAspect="1"/>
          </p:cNvPicPr>
          <p:nvPr/>
        </p:nvPicPr>
        <p:blipFill>
          <a:blip r:embed="rId9">
            <a:extLst>
              <a:ext uri="{96DAC541-7B7A-43D3-8B79-37D633B846F1}">
                <asvg:svgBlip xmlns:asvg="http://schemas.microsoft.com/office/drawing/2016/SVG/main" r:embed="rId10"/>
              </a:ext>
            </a:extLst>
          </a:blip>
          <a:srcRect l="0" r="0" t="0" b="0"/>
          <a:stretch/>
        </p:blipFill>
        <p:spPr>
          <a:xfrm>
            <a:off x="6372225" y="3838575"/>
            <a:ext cx="5276850" cy="800100"/>
          </a:xfrm>
          <a:prstGeom prst="roundRect">
            <a:avLst>
              <a:gd name="adj" fmla="val 0"/>
            </a:avLst>
          </a:prstGeom>
        </p:spPr>
      </p:pic>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rcRect l="0" r="0" t="0" b="0"/>
          <a:stretch/>
        </p:blipFill>
        <p:spPr>
          <a:xfrm>
            <a:off x="6372225" y="3838575"/>
            <a:ext cx="5276850" cy="800100"/>
          </a:xfrm>
          <a:prstGeom prst="roundRect">
            <a:avLst>
              <a:gd name="adj" fmla="val 0"/>
            </a:avLst>
          </a:prstGeom>
        </p:spPr>
      </p:pic>
      <p:sp>
        <p:nvSpPr>
          <p:cNvPr id="33" name="Shape 25"/>
          <p:cNvSpPr/>
          <p:nvPr/>
        </p:nvSpPr>
        <p:spPr>
          <a:xfrm>
            <a:off x="400050" y="4953000"/>
            <a:ext cx="11410950" cy="1143000"/>
          </a:xfrm>
          <a:custGeom>
            <a:avLst/>
            <a:gdLst/>
            <a:ahLst/>
            <a:cxnLst/>
            <a:rect l="l" t="t" r="r" b="b"/>
            <a:pathLst>
              <a:path w="11410950" h="1143000">
                <a:moveTo>
                  <a:pt x="0" y="0"/>
                </a:moveTo>
                <a:lnTo>
                  <a:pt x="11410950" y="0"/>
                </a:lnTo>
                <a:lnTo>
                  <a:pt x="11410950" y="1143000"/>
                </a:lnTo>
                <a:lnTo>
                  <a:pt x="0" y="1143000"/>
                </a:lnTo>
                <a:lnTo>
                  <a:pt x="0" y="0"/>
                </a:lnTo>
                <a:close/>
              </a:path>
            </a:pathLst>
          </a:custGeom>
          <a:solidFill>
            <a:srgbClr val="8B0000">
              <a:alpha val="5098"/>
            </a:srgbClr>
          </a:solidFill>
          <a:ln/>
        </p:spPr>
      </p:sp>
      <p:sp>
        <p:nvSpPr>
          <p:cNvPr id="34" name="Shape 26"/>
          <p:cNvSpPr/>
          <p:nvPr/>
        </p:nvSpPr>
        <p:spPr>
          <a:xfrm>
            <a:off x="400050" y="4953000"/>
            <a:ext cx="38100" cy="1143000"/>
          </a:xfrm>
          <a:custGeom>
            <a:avLst/>
            <a:gdLst/>
            <a:ahLst/>
            <a:cxnLst/>
            <a:rect l="l" t="t" r="r" b="b"/>
            <a:pathLst>
              <a:path w="38100" h="1143000">
                <a:moveTo>
                  <a:pt x="0" y="0"/>
                </a:moveTo>
                <a:lnTo>
                  <a:pt x="38100" y="0"/>
                </a:lnTo>
                <a:lnTo>
                  <a:pt x="38100" y="1143000"/>
                </a:lnTo>
                <a:lnTo>
                  <a:pt x="0" y="1143000"/>
                </a:lnTo>
                <a:lnTo>
                  <a:pt x="0" y="0"/>
                </a:lnTo>
                <a:close/>
              </a:path>
            </a:pathLst>
          </a:custGeom>
          <a:solidFill>
            <a:srgbClr val="8B0000"/>
          </a:solidFill>
          <a:ln/>
        </p:spPr>
      </p:sp>
      <p:sp>
        <p:nvSpPr>
          <p:cNvPr id="35" name="Text 27"/>
          <p:cNvSpPr/>
          <p:nvPr/>
        </p:nvSpPr>
        <p:spPr>
          <a:xfrm>
            <a:off x="571500" y="5105400"/>
            <a:ext cx="11172825" cy="266700"/>
          </a:xfrm>
          <a:prstGeom prst="rect">
            <a:avLst/>
          </a:prstGeom>
          <a:noFill/>
          <a:ln/>
        </p:spPr>
        <p:txBody>
          <a:bodyPr wrap="square" lIns="0" tIns="0" rIns="0" bIns="0" rtlCol="0" anchor="ctr"/>
          <a:lstStyle/>
          <a:p>
            <a:pPr>
              <a:lnSpc>
                <a:spcPct val="130000"/>
              </a:lnSpc>
            </a:pPr>
            <a:r>
              <a:rPr lang="en-US" sz="1350" b="1" dirty="0">
                <a:solidFill>
                  <a:srgbClr val="8B0000"/>
                </a:solidFill>
                <a:latin typeface="Sorts Mill Goudy" pitchFamily="34" charset="0"/>
                <a:ea typeface="Sorts Mill Goudy" pitchFamily="34" charset="-122"/>
                <a:cs typeface="Sorts Mill Goudy" pitchFamily="34" charset="-120"/>
              </a:rPr>
              <a:t>Classification Performance</a:t>
            </a:r>
            <a:endParaRPr lang="en-US" sz="1600" dirty="0"/>
          </a:p>
        </p:txBody>
      </p:sp>
      <p:sp>
        <p:nvSpPr>
          <p:cNvPr id="36" name="Text 28"/>
          <p:cNvSpPr/>
          <p:nvPr/>
        </p:nvSpPr>
        <p:spPr>
          <a:xfrm>
            <a:off x="571500" y="5448300"/>
            <a:ext cx="111633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Classification accuracy for both models was </a:t>
            </a:r>
            <a:pPr>
              <a:lnSpc>
                <a:spcPct val="140000"/>
              </a:lnSpc>
            </a:pPr>
            <a:r>
              <a:rPr lang="en-US" sz="1200" b="1" dirty="0">
                <a:solidFill>
                  <a:srgbClr val="1F2937"/>
                </a:solidFill>
                <a:latin typeface="Sorts Mill Goudy" pitchFamily="34" charset="0"/>
                <a:ea typeface="Sorts Mill Goudy" pitchFamily="34" charset="-122"/>
                <a:cs typeface="Sorts Mill Goudy" pitchFamily="34" charset="-120"/>
              </a:rPr>
              <a:t>close to 50%</a:t>
            </a:r>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 consistent with random guessing on a balanced binary outcome. The near-identical performance of simple baseline and complex Random Forest rules out the possibility that the linear model was too simple.</a:t>
            </a:r>
            <a:endParaRPr lang="en-US" sz="1600" dirty="0"/>
          </a:p>
        </p:txBody>
      </p:sp>
      <p:sp>
        <p:nvSpPr>
          <p:cNvPr id="37" name="Text 29"/>
          <p:cNvSpPr/>
          <p:nvPr/>
        </p:nvSpPr>
        <p:spPr>
          <a:xfrm>
            <a:off x="381000" y="6248400"/>
            <a:ext cx="11506200"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Figure 7:</a:t>
            </a:r>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 Permutation feature importance and confusion matrix for Random Forest classification model.</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7500" y="38100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3" name="Text 1"/>
          <p:cNvSpPr/>
          <p:nvPr/>
        </p:nvSpPr>
        <p:spPr>
          <a:xfrm>
            <a:off x="269875" y="381000"/>
            <a:ext cx="476250" cy="381000"/>
          </a:xfrm>
          <a:prstGeom prst="rect">
            <a:avLst/>
          </a:prstGeom>
          <a:noFill/>
          <a:ln/>
        </p:spPr>
        <p:txBody>
          <a:bodyPr wrap="square" lIns="0" tIns="0" rIns="0" bIns="0" rtlCol="0" anchor="ctr"/>
          <a:lstStyle/>
          <a:p>
            <a:pPr algn="ctr">
              <a:lnSpc>
                <a:spcPct val="110000"/>
              </a:lnSpc>
            </a:pPr>
            <a:r>
              <a:rPr lang="en-US" sz="1500" b="1" dirty="0">
                <a:solidFill>
                  <a:srgbClr val="FFFFFF"/>
                </a:solidFill>
                <a:latin typeface="Sorts Mill Goudy" pitchFamily="34" charset="0"/>
                <a:ea typeface="Sorts Mill Goudy" pitchFamily="34" charset="-122"/>
                <a:cs typeface="Sorts Mill Goudy" pitchFamily="34" charset="-120"/>
              </a:rPr>
              <a:t>6</a:t>
            </a:r>
            <a:endParaRPr lang="en-US" sz="1600" dirty="0"/>
          </a:p>
        </p:txBody>
      </p:sp>
      <p:sp>
        <p:nvSpPr>
          <p:cNvPr id="4" name="Text 2"/>
          <p:cNvSpPr/>
          <p:nvPr/>
        </p:nvSpPr>
        <p:spPr>
          <a:xfrm>
            <a:off x="793750" y="317500"/>
            <a:ext cx="3730625" cy="190500"/>
          </a:xfrm>
          <a:prstGeom prst="rect">
            <a:avLst/>
          </a:prstGeom>
          <a:noFill/>
          <a:ln/>
        </p:spPr>
        <p:txBody>
          <a:bodyPr wrap="square" lIns="0" tIns="0" rIns="0" bIns="0" rtlCol="0" anchor="ctr"/>
          <a:lstStyle/>
          <a:p>
            <a:pPr>
              <a:lnSpc>
                <a:spcPct val="130000"/>
              </a:lnSpc>
            </a:pPr>
            <a:r>
              <a:rPr lang="en-US" sz="1000" b="1" spc="50" kern="0" dirty="0">
                <a:solidFill>
                  <a:srgbClr val="8B0000"/>
                </a:solidFill>
                <a:latin typeface="Sorts Mill Goudy" pitchFamily="34" charset="0"/>
                <a:ea typeface="Sorts Mill Goudy" pitchFamily="34" charset="-122"/>
                <a:cs typeface="Sorts Mill Goudy" pitchFamily="34" charset="-120"/>
              </a:rPr>
              <a:t>RESULTS &amp; DISCUSSION</a:t>
            </a:r>
            <a:endParaRPr lang="en-US" sz="1600" dirty="0"/>
          </a:p>
        </p:txBody>
      </p:sp>
      <p:sp>
        <p:nvSpPr>
          <p:cNvPr id="5" name="Text 3"/>
          <p:cNvSpPr/>
          <p:nvPr/>
        </p:nvSpPr>
        <p:spPr>
          <a:xfrm>
            <a:off x="793750" y="508000"/>
            <a:ext cx="3810000"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Model Performance Summary</a:t>
            </a:r>
            <a:endParaRPr lang="en-US" sz="1600" dirty="0"/>
          </a:p>
        </p:txBody>
      </p:sp>
      <p:sp>
        <p:nvSpPr>
          <p:cNvPr id="6" name="Shape 4"/>
          <p:cNvSpPr/>
          <p:nvPr/>
        </p:nvSpPr>
        <p:spPr>
          <a:xfrm>
            <a:off x="321469" y="1019969"/>
            <a:ext cx="11549063" cy="2619375"/>
          </a:xfrm>
          <a:custGeom>
            <a:avLst/>
            <a:gdLst/>
            <a:ahLst/>
            <a:cxnLst/>
            <a:rect l="l" t="t" r="r" b="b"/>
            <a:pathLst>
              <a:path w="11549063" h="2619375">
                <a:moveTo>
                  <a:pt x="0" y="0"/>
                </a:moveTo>
                <a:lnTo>
                  <a:pt x="11549063" y="0"/>
                </a:lnTo>
                <a:lnTo>
                  <a:pt x="11549063" y="2619375"/>
                </a:lnTo>
                <a:lnTo>
                  <a:pt x="0" y="2619375"/>
                </a:lnTo>
                <a:lnTo>
                  <a:pt x="0" y="0"/>
                </a:lnTo>
                <a:close/>
              </a:path>
            </a:pathLst>
          </a:custGeom>
          <a:solidFill>
            <a:srgbClr val="FFFFFF"/>
          </a:solidFill>
          <a:ln w="12700">
            <a:solidFill>
              <a:srgbClr val="E5E7EB"/>
            </a:solidFill>
            <a:prstDash val="solid"/>
          </a:ln>
        </p:spPr>
      </p:sp>
      <p:sp>
        <p:nvSpPr>
          <p:cNvPr id="7" name="Shape 5"/>
          <p:cNvSpPr/>
          <p:nvPr/>
        </p:nvSpPr>
        <p:spPr>
          <a:xfrm>
            <a:off x="325438" y="1023938"/>
            <a:ext cx="11541125" cy="412750"/>
          </a:xfrm>
          <a:custGeom>
            <a:avLst/>
            <a:gdLst/>
            <a:ahLst/>
            <a:cxnLst/>
            <a:rect l="l" t="t" r="r" b="b"/>
            <a:pathLst>
              <a:path w="11541125" h="412750">
                <a:moveTo>
                  <a:pt x="0" y="0"/>
                </a:moveTo>
                <a:lnTo>
                  <a:pt x="11541125" y="0"/>
                </a:lnTo>
                <a:lnTo>
                  <a:pt x="11541125" y="412750"/>
                </a:lnTo>
                <a:lnTo>
                  <a:pt x="0" y="412750"/>
                </a:lnTo>
                <a:lnTo>
                  <a:pt x="0" y="0"/>
                </a:lnTo>
                <a:close/>
              </a:path>
            </a:pathLst>
          </a:custGeom>
          <a:solidFill>
            <a:srgbClr val="8B0000"/>
          </a:solidFill>
          <a:ln/>
        </p:spPr>
      </p:sp>
      <p:sp>
        <p:nvSpPr>
          <p:cNvPr id="8" name="Text 6"/>
          <p:cNvSpPr/>
          <p:nvPr/>
        </p:nvSpPr>
        <p:spPr>
          <a:xfrm>
            <a:off x="420688" y="1119188"/>
            <a:ext cx="11430000"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Table 2: Model Performance on Test Set</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2438" y="1563688"/>
          <a:ext cx="11287125" cy="1944688"/>
        </p:xfrm>
        <a:graphic>
          <a:graphicData uri="http://schemas.openxmlformats.org/drawingml/2006/table">
            <a:tbl>
              <a:tblPr/>
              <a:tblGrid>
                <a:gridCol w="2974471"/>
                <a:gridCol w="3720071"/>
                <a:gridCol w="1396018"/>
                <a:gridCol w="1443610"/>
                <a:gridCol w="1752955"/>
              </a:tblGrid>
              <a:tr h="388938">
                <a:tc>
                  <a:txBody>
                    <a:bodyPr/>
                    <a:lstStyle/>
                    <a:p>
                      <a:pPr algn="l"/>
                      <a:r>
                        <a:rPr lang="en-US" sz="1000" b="1" u="none" dirty="0">
                          <a:solidFill>
                            <a:srgbClr val="1F2937"/>
                          </a:solidFill>
                          <a:latin typeface="微软雅黑" pitchFamily="34" charset="0"/>
                          <a:ea typeface="微软雅黑" pitchFamily="34" charset="-122"/>
                          <a:cs typeface="微软雅黑" pitchFamily="34" charset="-120"/>
                        </a:rPr>
                        <a:t>Model</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c>
                  <a:txBody>
                    <a:bodyPr/>
                    <a:lstStyle/>
                    <a:p>
                      <a:pPr algn="l"/>
                      <a:r>
                        <a:rPr lang="en-US" sz="1000" b="1" u="none" dirty="0">
                          <a:solidFill>
                            <a:srgbClr val="1F2937"/>
                          </a:solidFill>
                          <a:latin typeface="微软雅黑" pitchFamily="34" charset="0"/>
                          <a:ea typeface="微软雅黑" pitchFamily="34" charset="-122"/>
                          <a:cs typeface="微软雅黑" pitchFamily="34" charset="-120"/>
                        </a:rPr>
                        <a:t>Task</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1F2937"/>
                          </a:solidFill>
                          <a:latin typeface="微软雅黑" pitchFamily="34" charset="0"/>
                          <a:ea typeface="微软雅黑" pitchFamily="34" charset="-122"/>
                          <a:cs typeface="微软雅黑" pitchFamily="34" charset="-120"/>
                        </a:rPr>
                        <a:t>RMSE</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1F2937"/>
                          </a:solidFill>
                          <a:latin typeface="微软雅黑" pitchFamily="34" charset="0"/>
                          <a:ea typeface="微软雅黑" pitchFamily="34" charset="-122"/>
                          <a:cs typeface="微软雅黑" pitchFamily="34" charset="-120"/>
                        </a:rPr>
                        <a:t>R²</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c>
                  <a:txBody>
                    <a:bodyPr/>
                    <a:lstStyle/>
                    <a:p>
                      <a:pPr algn="ctr"/>
                      <a:r>
                        <a:rPr lang="en-US" sz="1000" b="1" u="none" dirty="0">
                          <a:solidFill>
                            <a:srgbClr val="1F2937"/>
                          </a:solidFill>
                          <a:latin typeface="微软雅黑" pitchFamily="34" charset="0"/>
                          <a:ea typeface="微软雅黑" pitchFamily="34" charset="-122"/>
                          <a:cs typeface="微软雅黑" pitchFamily="34" charset="-120"/>
                        </a:rPr>
                        <a:t>Accuracy</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25400" cap="flat" cmpd="sng" algn="ctr">
                      <a:solidFill>
                        <a:srgbClr val="8B0000"/>
                      </a:solidFill>
                      <a:prstDash val="solid"/>
                      <a:round/>
                      <a:headEnd type="none" w="med" len="med"/>
                      <a:tailEnd type="none" w="med" len="med"/>
                    </a:lnB>
                    <a:solidFill>
                      <a:srgbClr val="FFFFFF">
                        <a:alpha val="0"/>
                      </a:srgbClr>
                    </a:solidFill>
                  </a:tcPr>
                </a:tc>
              </a:tr>
              <a:tr h="388938">
                <a:tc>
                  <a:txBody>
                    <a:bodyPr/>
                    <a:lstStyle/>
                    <a:p>
                      <a:r>
                        <a:rPr lang="en-US" sz="1000" b="1" u="none" dirty="0">
                          <a:solidFill>
                            <a:srgbClr val="1F2937"/>
                          </a:solidFill>
                          <a:latin typeface="微软雅黑" pitchFamily="34" charset="0"/>
                          <a:ea typeface="微软雅黑" pitchFamily="34" charset="-122"/>
                          <a:cs typeface="微软雅黑" pitchFamily="34" charset="-120"/>
                        </a:rPr>
                        <a:t>Linear Regression</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Regression (Productivity)</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2.87</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0.001</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88938">
                <a:tc>
                  <a:txBody>
                    <a:bodyPr/>
                    <a:lstStyle/>
                    <a:p>
                      <a:r>
                        <a:rPr lang="en-US" sz="1000" b="1" u="none" dirty="0">
                          <a:solidFill>
                            <a:srgbClr val="1F2937"/>
                          </a:solidFill>
                          <a:latin typeface="微软雅黑" pitchFamily="34" charset="0"/>
                          <a:ea typeface="微软雅黑" pitchFamily="34" charset="-122"/>
                          <a:cs typeface="微软雅黑" pitchFamily="34" charset="-120"/>
                        </a:rPr>
                        <a:t>Random Forest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Regression (Productivity)</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2.86</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0.002</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88938">
                <a:tc>
                  <a:txBody>
                    <a:bodyPr/>
                    <a:lstStyle/>
                    <a:p>
                      <a:r>
                        <a:rPr lang="en-US" sz="1000" b="1" u="none" dirty="0">
                          <a:solidFill>
                            <a:srgbClr val="1F2937"/>
                          </a:solidFill>
                          <a:latin typeface="微软雅黑" pitchFamily="34" charset="0"/>
                          <a:ea typeface="微软雅黑" pitchFamily="34" charset="-122"/>
                          <a:cs typeface="微软雅黑" pitchFamily="34" charset="-120"/>
                        </a:rPr>
                        <a:t>Logistic Regression</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Classification (Stress)</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50.0%</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12700" cap="flat" cmpd="sng" algn="ctr">
                      <a:solidFill>
                        <a:srgbClr val="E5E7EB"/>
                      </a:solidFill>
                      <a:prstDash val="solid"/>
                      <a:round/>
                      <a:headEnd type="none" w="med" len="med"/>
                      <a:tailEnd type="none" w="med" len="med"/>
                    </a:lnB>
                    <a:solidFill>
                      <a:srgbClr val="FFFFFF">
                        <a:alpha val="0"/>
                      </a:srgbClr>
                    </a:solidFill>
                  </a:tcPr>
                </a:tc>
              </a:tr>
              <a:tr h="388938">
                <a:tc>
                  <a:txBody>
                    <a:bodyPr/>
                    <a:lstStyle/>
                    <a:p>
                      <a:r>
                        <a:rPr lang="en-US" sz="1000" b="1" u="none" dirty="0">
                          <a:solidFill>
                            <a:srgbClr val="1F2937"/>
                          </a:solidFill>
                          <a:latin typeface="微软雅黑" pitchFamily="34" charset="0"/>
                          <a:ea typeface="微软雅黑" pitchFamily="34" charset="-122"/>
                          <a:cs typeface="微软雅黑" pitchFamily="34" charset="-120"/>
                        </a:rPr>
                        <a:t>Random Forest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r>
                        <a:rPr lang="en-US" sz="1000" u="none" dirty="0">
                          <a:solidFill>
                            <a:srgbClr val="1F2937"/>
                          </a:solidFill>
                          <a:latin typeface="微软雅黑" pitchFamily="34" charset="0"/>
                          <a:ea typeface="微软雅黑" pitchFamily="34" charset="-122"/>
                          <a:cs typeface="微软雅黑" pitchFamily="34" charset="-120"/>
                        </a:rPr>
                        <a:t>Classification (Stress)</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ctr"/>
                      <a:r>
                        <a:rPr lang="en-US" sz="1000" u="none" dirty="0">
                          <a:solidFill>
                            <a:srgbClr val="1F2937"/>
                          </a:solidFill>
                          <a:latin typeface="微软雅黑" pitchFamily="34" charset="0"/>
                          <a:ea typeface="微软雅黑" pitchFamily="34" charset="-122"/>
                          <a:cs typeface="微软雅黑" pitchFamily="34" charset="-120"/>
                        </a:rPr>
                        <a:t>50.1%</a:t>
                      </a:r>
                      <a:endParaRPr lang="en-US" sz="1000" dirty="0">
                        <a:latin typeface="微软雅黑" charset="0"/>
                        <a:ea typeface="微软雅黑" charset="0"/>
                        <a:cs typeface="微软雅黑" charset="0"/>
                      </a:endParaRPr>
                    </a:p>
                  </a:txBody>
                  <a:tcPr marL="127000" marR="127000" marT="95250" marB="9525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10" name="Shape 7"/>
          <p:cNvSpPr/>
          <p:nvPr/>
        </p:nvSpPr>
        <p:spPr>
          <a:xfrm>
            <a:off x="333375" y="3770313"/>
            <a:ext cx="5667375" cy="1762125"/>
          </a:xfrm>
          <a:custGeom>
            <a:avLst/>
            <a:gdLst/>
            <a:ahLst/>
            <a:cxnLst/>
            <a:rect l="l" t="t" r="r" b="b"/>
            <a:pathLst>
              <a:path w="5667375" h="1762125">
                <a:moveTo>
                  <a:pt x="0" y="0"/>
                </a:moveTo>
                <a:lnTo>
                  <a:pt x="5667375" y="0"/>
                </a:lnTo>
                <a:lnTo>
                  <a:pt x="5667375" y="1762125"/>
                </a:lnTo>
                <a:lnTo>
                  <a:pt x="0" y="1762125"/>
                </a:lnTo>
                <a:lnTo>
                  <a:pt x="0" y="0"/>
                </a:lnTo>
                <a:close/>
              </a:path>
            </a:pathLst>
          </a:custGeom>
          <a:solidFill>
            <a:srgbClr val="8B0000">
              <a:alpha val="5098"/>
            </a:srgbClr>
          </a:solidFill>
          <a:ln/>
        </p:spPr>
      </p:sp>
      <p:sp>
        <p:nvSpPr>
          <p:cNvPr id="11" name="Shape 8"/>
          <p:cNvSpPr/>
          <p:nvPr/>
        </p:nvSpPr>
        <p:spPr>
          <a:xfrm>
            <a:off x="333375" y="3770313"/>
            <a:ext cx="31750" cy="1762125"/>
          </a:xfrm>
          <a:custGeom>
            <a:avLst/>
            <a:gdLst/>
            <a:ahLst/>
            <a:cxnLst/>
            <a:rect l="l" t="t" r="r" b="b"/>
            <a:pathLst>
              <a:path w="31750" h="1762125">
                <a:moveTo>
                  <a:pt x="0" y="0"/>
                </a:moveTo>
                <a:lnTo>
                  <a:pt x="31750" y="0"/>
                </a:lnTo>
                <a:lnTo>
                  <a:pt x="31750" y="1762125"/>
                </a:lnTo>
                <a:lnTo>
                  <a:pt x="0" y="1762125"/>
                </a:lnTo>
                <a:lnTo>
                  <a:pt x="0" y="0"/>
                </a:lnTo>
                <a:close/>
              </a:path>
            </a:pathLst>
          </a:custGeom>
          <a:solidFill>
            <a:srgbClr val="8B0000"/>
          </a:solidFill>
          <a:ln/>
        </p:spPr>
      </p:sp>
      <p:sp>
        <p:nvSpPr>
          <p:cNvPr id="12" name="Text 9"/>
          <p:cNvSpPr/>
          <p:nvPr/>
        </p:nvSpPr>
        <p:spPr>
          <a:xfrm>
            <a:off x="508000" y="3929063"/>
            <a:ext cx="5413375" cy="222250"/>
          </a:xfrm>
          <a:prstGeom prst="rect">
            <a:avLst/>
          </a:prstGeom>
          <a:noFill/>
          <a:ln/>
        </p:spPr>
        <p:txBody>
          <a:bodyPr wrap="square" lIns="0" tIns="0" rIns="0" bIns="0" rtlCol="0" anchor="ctr"/>
          <a:lstStyle/>
          <a:p>
            <a:pPr>
              <a:lnSpc>
                <a:spcPct val="120000"/>
              </a:lnSpc>
            </a:pPr>
            <a:r>
              <a:rPr lang="en-US" sz="1250" b="1" dirty="0">
                <a:solidFill>
                  <a:srgbClr val="8B0000"/>
                </a:solidFill>
                <a:latin typeface="Sorts Mill Goudy" pitchFamily="34" charset="0"/>
                <a:ea typeface="Sorts Mill Goudy" pitchFamily="34" charset="-122"/>
                <a:cs typeface="Sorts Mill Goudy" pitchFamily="34" charset="-120"/>
              </a:rPr>
              <a:t>Regression Results</a:t>
            </a:r>
            <a:endParaRPr lang="en-US" sz="1600" dirty="0"/>
          </a:p>
        </p:txBody>
      </p:sp>
      <p:sp>
        <p:nvSpPr>
          <p:cNvPr id="13" name="Text 10"/>
          <p:cNvSpPr/>
          <p:nvPr/>
        </p:nvSpPr>
        <p:spPr>
          <a:xfrm>
            <a:off x="508000" y="4246563"/>
            <a:ext cx="5397500" cy="61912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Both regression models produced </a:t>
            </a:r>
            <a:pPr>
              <a:lnSpc>
                <a:spcPct val="140000"/>
              </a:lnSpc>
            </a:pPr>
            <a:r>
              <a:rPr lang="en-US" sz="1000" b="1" dirty="0">
                <a:solidFill>
                  <a:srgbClr val="1F2937"/>
                </a:solidFill>
                <a:latin typeface="Sorts Mill Goudy" pitchFamily="34" charset="0"/>
                <a:ea typeface="Sorts Mill Goudy" pitchFamily="34" charset="-122"/>
                <a:cs typeface="Sorts Mill Goudy" pitchFamily="34" charset="-120"/>
              </a:rPr>
              <a:t>R² values close to zero</a:t>
            </a:r>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 and </a:t>
            </a:r>
            <a:pPr>
              <a:lnSpc>
                <a:spcPct val="140000"/>
              </a:lnSpc>
            </a:pPr>
            <a:r>
              <a:rPr lang="en-US" sz="1000" b="1" dirty="0">
                <a:solidFill>
                  <a:srgbClr val="1F2937"/>
                </a:solidFill>
                <a:latin typeface="Sorts Mill Goudy" pitchFamily="34" charset="0"/>
                <a:ea typeface="Sorts Mill Goudy" pitchFamily="34" charset="-122"/>
                <a:cs typeface="Sorts Mill Goudy" pitchFamily="34" charset="-120"/>
              </a:rPr>
              <a:t>RMSE values near the standard deviation of the target</a:t>
            </a:r>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 (≈2.87), confirming that the models capture essentially no variance in productivity.</a:t>
            </a:r>
            <a:endParaRPr lang="en-US" sz="1600" dirty="0"/>
          </a:p>
        </p:txBody>
      </p:sp>
      <p:sp>
        <p:nvSpPr>
          <p:cNvPr id="14" name="Text 11"/>
          <p:cNvSpPr/>
          <p:nvPr/>
        </p:nvSpPr>
        <p:spPr>
          <a:xfrm>
            <a:off x="508000" y="4960938"/>
            <a:ext cx="5397500" cy="412750"/>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The actual vs predicted plot illustrates this visually: predictions converge to the global mean rather than tracking individual values.</a:t>
            </a:r>
            <a:endParaRPr lang="en-US" sz="1600" dirty="0"/>
          </a:p>
        </p:txBody>
      </p:sp>
      <p:sp>
        <p:nvSpPr>
          <p:cNvPr id="15" name="Shape 12"/>
          <p:cNvSpPr/>
          <p:nvPr/>
        </p:nvSpPr>
        <p:spPr>
          <a:xfrm>
            <a:off x="6207125" y="3770313"/>
            <a:ext cx="5667375" cy="1762125"/>
          </a:xfrm>
          <a:custGeom>
            <a:avLst/>
            <a:gdLst/>
            <a:ahLst/>
            <a:cxnLst/>
            <a:rect l="l" t="t" r="r" b="b"/>
            <a:pathLst>
              <a:path w="5667375" h="1762125">
                <a:moveTo>
                  <a:pt x="0" y="0"/>
                </a:moveTo>
                <a:lnTo>
                  <a:pt x="5667375" y="0"/>
                </a:lnTo>
                <a:lnTo>
                  <a:pt x="5667375" y="1762125"/>
                </a:lnTo>
                <a:lnTo>
                  <a:pt x="0" y="1762125"/>
                </a:lnTo>
                <a:lnTo>
                  <a:pt x="0" y="0"/>
                </a:lnTo>
                <a:close/>
              </a:path>
            </a:pathLst>
          </a:custGeom>
          <a:solidFill>
            <a:srgbClr val="8B0000">
              <a:alpha val="5098"/>
            </a:srgbClr>
          </a:solidFill>
          <a:ln/>
        </p:spPr>
      </p:sp>
      <p:sp>
        <p:nvSpPr>
          <p:cNvPr id="16" name="Shape 13"/>
          <p:cNvSpPr/>
          <p:nvPr/>
        </p:nvSpPr>
        <p:spPr>
          <a:xfrm>
            <a:off x="6207125" y="3770313"/>
            <a:ext cx="31750" cy="1762125"/>
          </a:xfrm>
          <a:custGeom>
            <a:avLst/>
            <a:gdLst/>
            <a:ahLst/>
            <a:cxnLst/>
            <a:rect l="l" t="t" r="r" b="b"/>
            <a:pathLst>
              <a:path w="31750" h="1762125">
                <a:moveTo>
                  <a:pt x="0" y="0"/>
                </a:moveTo>
                <a:lnTo>
                  <a:pt x="31750" y="0"/>
                </a:lnTo>
                <a:lnTo>
                  <a:pt x="31750" y="1762125"/>
                </a:lnTo>
                <a:lnTo>
                  <a:pt x="0" y="1762125"/>
                </a:lnTo>
                <a:lnTo>
                  <a:pt x="0" y="0"/>
                </a:lnTo>
                <a:close/>
              </a:path>
            </a:pathLst>
          </a:custGeom>
          <a:solidFill>
            <a:srgbClr val="8B0000"/>
          </a:solidFill>
          <a:ln/>
        </p:spPr>
      </p:sp>
      <p:sp>
        <p:nvSpPr>
          <p:cNvPr id="17" name="Text 14"/>
          <p:cNvSpPr/>
          <p:nvPr/>
        </p:nvSpPr>
        <p:spPr>
          <a:xfrm>
            <a:off x="6381750" y="3929063"/>
            <a:ext cx="5413375" cy="222250"/>
          </a:xfrm>
          <a:prstGeom prst="rect">
            <a:avLst/>
          </a:prstGeom>
          <a:noFill/>
          <a:ln/>
        </p:spPr>
        <p:txBody>
          <a:bodyPr wrap="square" lIns="0" tIns="0" rIns="0" bIns="0" rtlCol="0" anchor="ctr"/>
          <a:lstStyle/>
          <a:p>
            <a:pPr>
              <a:lnSpc>
                <a:spcPct val="120000"/>
              </a:lnSpc>
            </a:pPr>
            <a:r>
              <a:rPr lang="en-US" sz="1250" b="1" dirty="0">
                <a:solidFill>
                  <a:srgbClr val="8B0000"/>
                </a:solidFill>
                <a:latin typeface="Sorts Mill Goudy" pitchFamily="34" charset="0"/>
                <a:ea typeface="Sorts Mill Goudy" pitchFamily="34" charset="-122"/>
                <a:cs typeface="Sorts Mill Goudy" pitchFamily="34" charset="-120"/>
              </a:rPr>
              <a:t>Classification Results</a:t>
            </a:r>
            <a:endParaRPr lang="en-US" sz="1600" dirty="0"/>
          </a:p>
        </p:txBody>
      </p:sp>
      <p:sp>
        <p:nvSpPr>
          <p:cNvPr id="18" name="Text 15"/>
          <p:cNvSpPr/>
          <p:nvPr/>
        </p:nvSpPr>
        <p:spPr>
          <a:xfrm>
            <a:off x="6381750" y="4246563"/>
            <a:ext cx="5397500" cy="412750"/>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Classification accuracy for both models was </a:t>
            </a:r>
            <a:pPr>
              <a:lnSpc>
                <a:spcPct val="140000"/>
              </a:lnSpc>
            </a:pPr>
            <a:r>
              <a:rPr lang="en-US" sz="1000" b="1" dirty="0">
                <a:solidFill>
                  <a:srgbClr val="1F2937"/>
                </a:solidFill>
                <a:latin typeface="Sorts Mill Goudy" pitchFamily="34" charset="0"/>
                <a:ea typeface="Sorts Mill Goudy" pitchFamily="34" charset="-122"/>
                <a:cs typeface="Sorts Mill Goudy" pitchFamily="34" charset="-120"/>
              </a:rPr>
              <a:t>close to 50%</a:t>
            </a:r>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 consistent with random guessing on a balanced binary outcome.</a:t>
            </a:r>
            <a:endParaRPr lang="en-US" sz="1600" dirty="0"/>
          </a:p>
        </p:txBody>
      </p:sp>
      <p:sp>
        <p:nvSpPr>
          <p:cNvPr id="19" name="Text 16"/>
          <p:cNvSpPr/>
          <p:nvPr/>
        </p:nvSpPr>
        <p:spPr>
          <a:xfrm>
            <a:off x="6381750" y="4754563"/>
            <a:ext cx="5397500" cy="61912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The near-identical performance of simple baseline and complex Random Forest model is an important diagnostic: it rules out the possibility that the linear model was too simple to capture genuine non-linear patterns.</a:t>
            </a:r>
            <a:endParaRPr lang="en-US" sz="1600" dirty="0"/>
          </a:p>
        </p:txBody>
      </p:sp>
      <p:sp>
        <p:nvSpPr>
          <p:cNvPr id="20" name="Shape 17"/>
          <p:cNvSpPr/>
          <p:nvPr/>
        </p:nvSpPr>
        <p:spPr>
          <a:xfrm>
            <a:off x="317500" y="5659438"/>
            <a:ext cx="11557000" cy="1103313"/>
          </a:xfrm>
          <a:custGeom>
            <a:avLst/>
            <a:gdLst/>
            <a:ahLst/>
            <a:cxnLst/>
            <a:rect l="l" t="t" r="r" b="b"/>
            <a:pathLst>
              <a:path w="11557000" h="1103313">
                <a:moveTo>
                  <a:pt x="0" y="0"/>
                </a:moveTo>
                <a:lnTo>
                  <a:pt x="11557000" y="0"/>
                </a:lnTo>
                <a:lnTo>
                  <a:pt x="11557000" y="1103313"/>
                </a:lnTo>
                <a:lnTo>
                  <a:pt x="0" y="1103313"/>
                </a:lnTo>
                <a:lnTo>
                  <a:pt x="0" y="0"/>
                </a:lnTo>
                <a:close/>
              </a:path>
            </a:pathLst>
          </a:custGeom>
          <a:solidFill>
            <a:srgbClr val="1F2937"/>
          </a:solidFill>
          <a:ln/>
        </p:spPr>
      </p:sp>
      <p:sp>
        <p:nvSpPr>
          <p:cNvPr id="21" name="Text 18"/>
          <p:cNvSpPr/>
          <p:nvPr/>
        </p:nvSpPr>
        <p:spPr>
          <a:xfrm>
            <a:off x="476250" y="5818188"/>
            <a:ext cx="113188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Critical Insight</a:t>
            </a:r>
            <a:endParaRPr lang="en-US" sz="1600" dirty="0"/>
          </a:p>
        </p:txBody>
      </p:sp>
      <p:sp>
        <p:nvSpPr>
          <p:cNvPr id="22" name="Text 19"/>
          <p:cNvSpPr/>
          <p:nvPr/>
        </p:nvSpPr>
        <p:spPr>
          <a:xfrm>
            <a:off x="476250" y="6135688"/>
            <a:ext cx="11310938" cy="468313"/>
          </a:xfrm>
          <a:prstGeom prst="rect">
            <a:avLst/>
          </a:prstGeom>
          <a:noFill/>
          <a:ln/>
        </p:spPr>
        <p:txBody>
          <a:bodyPr wrap="square" lIns="0" tIns="0" rIns="0" bIns="0" rtlCol="0" anchor="ctr"/>
          <a:lstStyle/>
          <a:p>
            <a:pPr>
              <a:lnSpc>
                <a:spcPct val="140000"/>
              </a:lnSpc>
            </a:pPr>
            <a:r>
              <a:rPr lang="en-US" sz="1125" dirty="0">
                <a:solidFill>
                  <a:srgbClr val="FFFFFF"/>
                </a:solidFill>
                <a:latin typeface="Sorts Mill Goudy" pitchFamily="34" charset="0"/>
                <a:ea typeface="Sorts Mill Goudy" pitchFamily="34" charset="-122"/>
                <a:cs typeface="Sorts Mill Goudy" pitchFamily="34" charset="-120"/>
              </a:rPr>
              <a:t>The </a:t>
            </a:r>
            <a:pPr>
              <a:lnSpc>
                <a:spcPct val="140000"/>
              </a:lnSpc>
            </a:pPr>
            <a:r>
              <a:rPr lang="en-US" sz="1125" b="1" dirty="0">
                <a:solidFill>
                  <a:srgbClr val="FFFFFF"/>
                </a:solidFill>
                <a:latin typeface="Sorts Mill Goudy" pitchFamily="34" charset="0"/>
                <a:ea typeface="Sorts Mill Goudy" pitchFamily="34" charset="-122"/>
                <a:cs typeface="Sorts Mill Goudy" pitchFamily="34" charset="-120"/>
              </a:rPr>
              <a:t>absence of predictive power is a property of the data</a:t>
            </a:r>
            <a:pPr>
              <a:lnSpc>
                <a:spcPct val="140000"/>
              </a:lnSpc>
            </a:pPr>
            <a:r>
              <a:rPr lang="en-US" sz="1125" dirty="0">
                <a:solidFill>
                  <a:srgbClr val="FFFFFF"/>
                </a:solidFill>
                <a:latin typeface="Sorts Mill Goudy" pitchFamily="34" charset="0"/>
                <a:ea typeface="Sorts Mill Goudy" pitchFamily="34" charset="-122"/>
                <a:cs typeface="Sorts Mill Goudy" pitchFamily="34" charset="-120"/>
              </a:rPr>
              <a:t>, not a modelling failure. Feature importance plots show values close to zero or slightly negative for most variables, meaning that permuting predictors does not substantially change model error — further evidence that no variable carries predictive signal.</a:t>
            </a:r>
            <a:endParaRPr lang="en-US" sz="1600" dirty="0"/>
          </a:p>
        </p:txBody>
      </p:sp>
      <p:sp>
        <p:nvSpPr>
          <p:cNvPr id="23" name="Text 20"/>
          <p:cNvSpPr/>
          <p:nvPr/>
        </p:nvSpPr>
        <p:spPr>
          <a:xfrm>
            <a:off x="317500" y="6885781"/>
            <a:ext cx="11620500"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Figure 8:</a:t>
            </a:r>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 Summary table and discussion of model performance across all four models, demonstrating the data-driven nature of poor predictive performance.</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74850" y="449820"/>
            <a:ext cx="449820" cy="449820"/>
          </a:xfrm>
          <a:custGeom>
            <a:avLst/>
            <a:gdLst/>
            <a:ahLst/>
            <a:cxnLst/>
            <a:rect l="l" t="t" r="r" b="b"/>
            <a:pathLst>
              <a:path w="449820" h="449820">
                <a:moveTo>
                  <a:pt x="0" y="0"/>
                </a:moveTo>
                <a:lnTo>
                  <a:pt x="449820" y="0"/>
                </a:lnTo>
                <a:lnTo>
                  <a:pt x="449820" y="449820"/>
                </a:lnTo>
                <a:lnTo>
                  <a:pt x="0" y="449820"/>
                </a:lnTo>
                <a:lnTo>
                  <a:pt x="0" y="0"/>
                </a:lnTo>
                <a:close/>
              </a:path>
            </a:pathLst>
          </a:custGeom>
          <a:solidFill>
            <a:srgbClr val="8B0000"/>
          </a:solidFill>
          <a:ln/>
        </p:spPr>
      </p:sp>
      <p:sp>
        <p:nvSpPr>
          <p:cNvPr id="3" name="Text 1"/>
          <p:cNvSpPr/>
          <p:nvPr/>
        </p:nvSpPr>
        <p:spPr>
          <a:xfrm>
            <a:off x="318623" y="449820"/>
            <a:ext cx="562275" cy="449820"/>
          </a:xfrm>
          <a:prstGeom prst="rect">
            <a:avLst/>
          </a:prstGeom>
          <a:noFill/>
          <a:ln/>
        </p:spPr>
        <p:txBody>
          <a:bodyPr wrap="square" lIns="0" tIns="0" rIns="0" bIns="0" rtlCol="0" anchor="ctr"/>
          <a:lstStyle/>
          <a:p>
            <a:pPr algn="ctr">
              <a:lnSpc>
                <a:spcPct val="110000"/>
              </a:lnSpc>
            </a:pPr>
            <a:r>
              <a:rPr lang="en-US" sz="1771" b="1" dirty="0">
                <a:solidFill>
                  <a:srgbClr val="FFFFFF"/>
                </a:solidFill>
                <a:latin typeface="Sorts Mill Goudy" pitchFamily="34" charset="0"/>
                <a:ea typeface="Sorts Mill Goudy" pitchFamily="34" charset="-122"/>
                <a:cs typeface="Sorts Mill Goudy" pitchFamily="34" charset="-120"/>
              </a:rPr>
              <a:t>7</a:t>
            </a:r>
            <a:endParaRPr lang="en-US" sz="1600" dirty="0"/>
          </a:p>
        </p:txBody>
      </p:sp>
      <p:sp>
        <p:nvSpPr>
          <p:cNvPr id="4" name="Text 2"/>
          <p:cNvSpPr/>
          <p:nvPr/>
        </p:nvSpPr>
        <p:spPr>
          <a:xfrm>
            <a:off x="937125" y="374850"/>
            <a:ext cx="4245178" cy="224910"/>
          </a:xfrm>
          <a:prstGeom prst="rect">
            <a:avLst/>
          </a:prstGeom>
          <a:noFill/>
          <a:ln/>
        </p:spPr>
        <p:txBody>
          <a:bodyPr wrap="square" lIns="0" tIns="0" rIns="0" bIns="0" rtlCol="0" anchor="ctr"/>
          <a:lstStyle/>
          <a:p>
            <a:pPr>
              <a:lnSpc>
                <a:spcPct val="130000"/>
              </a:lnSpc>
            </a:pPr>
            <a:r>
              <a:rPr lang="en-US" sz="1181" b="1" spc="59" kern="0" dirty="0">
                <a:solidFill>
                  <a:srgbClr val="8B0000"/>
                </a:solidFill>
                <a:latin typeface="Sorts Mill Goudy" pitchFamily="34" charset="0"/>
                <a:ea typeface="Sorts Mill Goudy" pitchFamily="34" charset="-122"/>
                <a:cs typeface="Sorts Mill Goudy" pitchFamily="34" charset="-120"/>
              </a:rPr>
              <a:t>CONCLUSIONS</a:t>
            </a:r>
            <a:endParaRPr lang="en-US" sz="1600" dirty="0"/>
          </a:p>
        </p:txBody>
      </p:sp>
      <p:sp>
        <p:nvSpPr>
          <p:cNvPr id="5" name="Text 3"/>
          <p:cNvSpPr/>
          <p:nvPr/>
        </p:nvSpPr>
        <p:spPr>
          <a:xfrm>
            <a:off x="937125" y="599760"/>
            <a:ext cx="4338890" cy="374850"/>
          </a:xfrm>
          <a:prstGeom prst="rect">
            <a:avLst/>
          </a:prstGeom>
          <a:noFill/>
          <a:ln/>
        </p:spPr>
        <p:txBody>
          <a:bodyPr wrap="square" lIns="0" tIns="0" rIns="0" bIns="0" rtlCol="0" anchor="ctr"/>
          <a:lstStyle/>
          <a:p>
            <a:pPr>
              <a:lnSpc>
                <a:spcPct val="90000"/>
              </a:lnSpc>
            </a:pPr>
            <a:r>
              <a:rPr lang="en-US" sz="2656" b="1" dirty="0">
                <a:solidFill>
                  <a:srgbClr val="1F2937"/>
                </a:solidFill>
                <a:latin typeface="Sorts Mill Goudy" pitchFamily="34" charset="0"/>
                <a:ea typeface="Sorts Mill Goudy" pitchFamily="34" charset="-122"/>
                <a:cs typeface="Sorts Mill Goudy" pitchFamily="34" charset="-120"/>
              </a:rPr>
              <a:t>Key Findings &amp; Implications</a:t>
            </a:r>
            <a:endParaRPr lang="en-US" sz="1600" dirty="0"/>
          </a:p>
        </p:txBody>
      </p:sp>
      <p:sp>
        <p:nvSpPr>
          <p:cNvPr id="6" name="Shape 4"/>
          <p:cNvSpPr/>
          <p:nvPr/>
        </p:nvSpPr>
        <p:spPr>
          <a:xfrm>
            <a:off x="374850" y="1274490"/>
            <a:ext cx="11442300" cy="1780538"/>
          </a:xfrm>
          <a:custGeom>
            <a:avLst/>
            <a:gdLst/>
            <a:ahLst/>
            <a:cxnLst/>
            <a:rect l="l" t="t" r="r" b="b"/>
            <a:pathLst>
              <a:path w="11442300" h="1780538">
                <a:moveTo>
                  <a:pt x="0" y="0"/>
                </a:moveTo>
                <a:lnTo>
                  <a:pt x="11442300" y="0"/>
                </a:lnTo>
                <a:lnTo>
                  <a:pt x="11442300" y="1780538"/>
                </a:lnTo>
                <a:lnTo>
                  <a:pt x="0" y="1780538"/>
                </a:lnTo>
                <a:lnTo>
                  <a:pt x="0" y="0"/>
                </a:lnTo>
                <a:close/>
              </a:path>
            </a:pathLst>
          </a:custGeom>
          <a:solidFill>
            <a:srgbClr val="8B0000"/>
          </a:solidFill>
          <a:ln/>
        </p:spPr>
      </p:sp>
      <p:sp>
        <p:nvSpPr>
          <p:cNvPr id="7" name="Text 5"/>
          <p:cNvSpPr/>
          <p:nvPr/>
        </p:nvSpPr>
        <p:spPr>
          <a:xfrm>
            <a:off x="599760" y="1499400"/>
            <a:ext cx="11104935" cy="299880"/>
          </a:xfrm>
          <a:prstGeom prst="rect">
            <a:avLst/>
          </a:prstGeom>
          <a:noFill/>
          <a:ln/>
        </p:spPr>
        <p:txBody>
          <a:bodyPr wrap="square" lIns="0" tIns="0" rIns="0" bIns="0" rtlCol="0" anchor="ctr"/>
          <a:lstStyle/>
          <a:p>
            <a:pPr>
              <a:lnSpc>
                <a:spcPct val="110000"/>
              </a:lnSpc>
            </a:pPr>
            <a:r>
              <a:rPr lang="en-US" sz="1771" b="1" dirty="0">
                <a:solidFill>
                  <a:srgbClr val="FFFFFF"/>
                </a:solidFill>
                <a:latin typeface="Sorts Mill Goudy" pitchFamily="34" charset="0"/>
                <a:ea typeface="Sorts Mill Goudy" pitchFamily="34" charset="-122"/>
                <a:cs typeface="Sorts Mill Goudy" pitchFamily="34" charset="-120"/>
              </a:rPr>
              <a:t>Most Important Finding</a:t>
            </a:r>
            <a:endParaRPr lang="en-US" sz="1600" dirty="0"/>
          </a:p>
        </p:txBody>
      </p:sp>
      <p:sp>
        <p:nvSpPr>
          <p:cNvPr id="8" name="Text 6"/>
          <p:cNvSpPr/>
          <p:nvPr/>
        </p:nvSpPr>
        <p:spPr>
          <a:xfrm>
            <a:off x="599760" y="1911736"/>
            <a:ext cx="11086192" cy="918383"/>
          </a:xfrm>
          <a:prstGeom prst="rect">
            <a:avLst/>
          </a:prstGeom>
          <a:noFill/>
          <a:ln/>
        </p:spPr>
        <p:txBody>
          <a:bodyPr wrap="square" lIns="0" tIns="0" rIns="0" bIns="0" rtlCol="0" anchor="ctr"/>
          <a:lstStyle/>
          <a:p>
            <a:pPr>
              <a:lnSpc>
                <a:spcPct val="140000"/>
              </a:lnSpc>
            </a:pPr>
            <a:r>
              <a:rPr lang="en-US" sz="1476" dirty="0">
                <a:solidFill>
                  <a:srgbClr val="FFFFFF"/>
                </a:solidFill>
                <a:latin typeface="Sorts Mill Goudy" pitchFamily="34" charset="0"/>
                <a:ea typeface="Sorts Mill Goudy" pitchFamily="34" charset="-122"/>
                <a:cs typeface="Sorts Mill Goudy" pitchFamily="34" charset="-120"/>
              </a:rPr>
              <a:t>The </a:t>
            </a:r>
            <a:pPr>
              <a:lnSpc>
                <a:spcPct val="140000"/>
              </a:lnSpc>
            </a:pPr>
            <a:r>
              <a:rPr lang="en-US" sz="1476" b="1" dirty="0">
                <a:solidFill>
                  <a:srgbClr val="FFFFFF"/>
                </a:solidFill>
                <a:latin typeface="Sorts Mill Goudy" pitchFamily="34" charset="0"/>
                <a:ea typeface="Sorts Mill Goudy" pitchFamily="34" charset="-122"/>
                <a:cs typeface="Sorts Mill Goudy" pitchFamily="34" charset="-120"/>
              </a:rPr>
              <a:t>near-zero correlation structure</a:t>
            </a:r>
            <a:pPr>
              <a:lnSpc>
                <a:spcPct val="140000"/>
              </a:lnSpc>
            </a:pPr>
            <a:r>
              <a:rPr lang="en-US" sz="1476" dirty="0">
                <a:solidFill>
                  <a:srgbClr val="FFFFFF"/>
                </a:solidFill>
                <a:latin typeface="Sorts Mill Goudy" pitchFamily="34" charset="0"/>
                <a:ea typeface="Sorts Mill Goudy" pitchFamily="34" charset="-122"/>
                <a:cs typeface="Sorts Mill Goudy" pitchFamily="34" charset="-120"/>
              </a:rPr>
              <a:t> confirmed across multiple analyses: histogram distributions, correlation matrix, scree plot, and supervised model results all point to the same conclusion — </a:t>
            </a:r>
            <a:pPr>
              <a:lnSpc>
                <a:spcPct val="140000"/>
              </a:lnSpc>
            </a:pPr>
            <a:r>
              <a:rPr lang="en-US" sz="1476" b="1" dirty="0">
                <a:solidFill>
                  <a:srgbClr val="FFFFFF"/>
                </a:solidFill>
                <a:latin typeface="Sorts Mill Goudy" pitchFamily="34" charset="0"/>
                <a:ea typeface="Sorts Mill Goudy" pitchFamily="34" charset="-122"/>
                <a:cs typeface="Sorts Mill Goudy" pitchFamily="34" charset="-120"/>
              </a:rPr>
              <a:t>variables in this dataset were generated independently of one another</a:t>
            </a:r>
            <a:pPr>
              <a:lnSpc>
                <a:spcPct val="140000"/>
              </a:lnSpc>
            </a:pPr>
            <a:r>
              <a:rPr lang="en-US" sz="1476" dirty="0">
                <a:solidFill>
                  <a:srgbClr val="FFFFFF"/>
                </a:solidFill>
                <a:latin typeface="Sorts Mill Goudy" pitchFamily="34" charset="0"/>
                <a:ea typeface="Sorts Mill Goudy" pitchFamily="34" charset="-122"/>
                <a:cs typeface="Sorts Mill Goudy" pitchFamily="34" charset="-120"/>
              </a:rPr>
              <a:t>. This makes meaningful supervised prediction impossible regardless of model complexity.</a:t>
            </a:r>
            <a:endParaRPr lang="en-US" sz="1600" dirty="0"/>
          </a:p>
        </p:txBody>
      </p:sp>
      <p:sp>
        <p:nvSpPr>
          <p:cNvPr id="9" name="Shape 7"/>
          <p:cNvSpPr/>
          <p:nvPr/>
        </p:nvSpPr>
        <p:spPr>
          <a:xfrm>
            <a:off x="374850" y="3256510"/>
            <a:ext cx="3664160" cy="2474011"/>
          </a:xfrm>
          <a:custGeom>
            <a:avLst/>
            <a:gdLst/>
            <a:ahLst/>
            <a:cxnLst/>
            <a:rect l="l" t="t" r="r" b="b"/>
            <a:pathLst>
              <a:path w="3664160" h="2474011">
                <a:moveTo>
                  <a:pt x="0" y="0"/>
                </a:moveTo>
                <a:lnTo>
                  <a:pt x="3664160" y="0"/>
                </a:lnTo>
                <a:lnTo>
                  <a:pt x="3664160" y="2474011"/>
                </a:lnTo>
                <a:lnTo>
                  <a:pt x="0" y="2474011"/>
                </a:lnTo>
                <a:lnTo>
                  <a:pt x="0" y="0"/>
                </a:lnTo>
                <a:close/>
              </a:path>
            </a:pathLst>
          </a:custGeom>
          <a:solidFill>
            <a:srgbClr val="F9FAFB"/>
          </a:solidFill>
          <a:ln/>
        </p:spPr>
      </p:sp>
      <p:sp>
        <p:nvSpPr>
          <p:cNvPr id="10" name="Shape 8"/>
          <p:cNvSpPr/>
          <p:nvPr/>
        </p:nvSpPr>
        <p:spPr>
          <a:xfrm>
            <a:off x="374850" y="3256510"/>
            <a:ext cx="3664160" cy="37485"/>
          </a:xfrm>
          <a:custGeom>
            <a:avLst/>
            <a:gdLst/>
            <a:ahLst/>
            <a:cxnLst/>
            <a:rect l="l" t="t" r="r" b="b"/>
            <a:pathLst>
              <a:path w="3664160" h="37485">
                <a:moveTo>
                  <a:pt x="0" y="0"/>
                </a:moveTo>
                <a:lnTo>
                  <a:pt x="3664160" y="0"/>
                </a:lnTo>
                <a:lnTo>
                  <a:pt x="3664160" y="37485"/>
                </a:lnTo>
                <a:lnTo>
                  <a:pt x="0" y="37485"/>
                </a:lnTo>
                <a:lnTo>
                  <a:pt x="0" y="0"/>
                </a:lnTo>
                <a:close/>
              </a:path>
            </a:pathLst>
          </a:custGeom>
          <a:solidFill>
            <a:srgbClr val="5B8DB8"/>
          </a:solidFill>
          <a:ln/>
        </p:spPr>
      </p:sp>
      <p:sp>
        <p:nvSpPr>
          <p:cNvPr id="11" name="Text 9"/>
          <p:cNvSpPr/>
          <p:nvPr/>
        </p:nvSpPr>
        <p:spPr>
          <a:xfrm>
            <a:off x="562275" y="3462678"/>
            <a:ext cx="3383022" cy="262395"/>
          </a:xfrm>
          <a:prstGeom prst="rect">
            <a:avLst/>
          </a:prstGeom>
          <a:noFill/>
          <a:ln/>
        </p:spPr>
        <p:txBody>
          <a:bodyPr wrap="square" lIns="0" tIns="0" rIns="0" bIns="0" rtlCol="0" anchor="ctr"/>
          <a:lstStyle/>
          <a:p>
            <a:pPr>
              <a:lnSpc>
                <a:spcPct val="120000"/>
              </a:lnSpc>
            </a:pPr>
            <a:r>
              <a:rPr lang="en-US" sz="1476" b="1" dirty="0">
                <a:solidFill>
                  <a:srgbClr val="1F2937"/>
                </a:solidFill>
                <a:latin typeface="Sorts Mill Goudy" pitchFamily="34" charset="0"/>
                <a:ea typeface="Sorts Mill Goudy" pitchFamily="34" charset="-122"/>
                <a:cs typeface="Sorts Mill Goudy" pitchFamily="34" charset="-120"/>
              </a:rPr>
              <a:t>Analytical Contribution</a:t>
            </a:r>
            <a:endParaRPr lang="en-US" sz="1600" dirty="0"/>
          </a:p>
        </p:txBody>
      </p:sp>
      <p:sp>
        <p:nvSpPr>
          <p:cNvPr id="12" name="Text 10"/>
          <p:cNvSpPr/>
          <p:nvPr/>
        </p:nvSpPr>
        <p:spPr>
          <a:xfrm>
            <a:off x="562275" y="3837528"/>
            <a:ext cx="3364280" cy="1705568"/>
          </a:xfrm>
          <a:prstGeom prst="rect">
            <a:avLst/>
          </a:prstGeom>
          <a:noFill/>
          <a:ln/>
        </p:spPr>
        <p:txBody>
          <a:bodyPr wrap="square" lIns="0" tIns="0" rIns="0" bIns="0" rtlCol="0" anchor="ctr"/>
          <a:lstStyle/>
          <a:p>
            <a:pPr>
              <a:lnSpc>
                <a:spcPct val="140000"/>
              </a:lnSpc>
            </a:pPr>
            <a:r>
              <a:rPr lang="en-US" sz="1181" dirty="0">
                <a:solidFill>
                  <a:srgbClr val="1F2937"/>
                </a:solidFill>
                <a:latin typeface="Sorts Mill Goudy" pitchFamily="34" charset="0"/>
                <a:ea typeface="Sorts Mill Goudy" pitchFamily="34" charset="-122"/>
                <a:cs typeface="Sorts Mill Goudy" pitchFamily="34" charset="-120"/>
              </a:rPr>
              <a:t>Reporting this honestly is itself an </a:t>
            </a:r>
            <a:pPr>
              <a:lnSpc>
                <a:spcPct val="140000"/>
              </a:lnSpc>
            </a:pPr>
            <a:r>
              <a:rPr lang="en-US" sz="1181" b="1" dirty="0">
                <a:solidFill>
                  <a:srgbClr val="1F2937"/>
                </a:solidFill>
                <a:latin typeface="Sorts Mill Goudy" pitchFamily="34" charset="0"/>
                <a:ea typeface="Sorts Mill Goudy" pitchFamily="34" charset="-122"/>
                <a:cs typeface="Sorts Mill Goudy" pitchFamily="34" charset="-120"/>
              </a:rPr>
              <a:t>analytical contribution</a:t>
            </a:r>
            <a:pPr>
              <a:lnSpc>
                <a:spcPct val="140000"/>
              </a:lnSpc>
            </a:pPr>
            <a:r>
              <a:rPr lang="en-US" sz="1181" dirty="0">
                <a:solidFill>
                  <a:srgbClr val="1F2937"/>
                </a:solidFill>
                <a:latin typeface="Sorts Mill Goudy" pitchFamily="34" charset="0"/>
                <a:ea typeface="Sorts Mill Goudy" pitchFamily="34" charset="-122"/>
                <a:cs typeface="Sorts Mill Goudy" pitchFamily="34" charset="-120"/>
              </a:rPr>
              <a:t>. Adding more complex models would not have changed the conclusion. The deliberate choice to compare a simple baseline with a powerful model in each supervised task confirmed that poor performance is a data property, not a modelling failure.</a:t>
            </a:r>
            <a:endParaRPr lang="en-US" sz="1600" dirty="0"/>
          </a:p>
        </p:txBody>
      </p:sp>
      <p:sp>
        <p:nvSpPr>
          <p:cNvPr id="13" name="Shape 11"/>
          <p:cNvSpPr/>
          <p:nvPr/>
        </p:nvSpPr>
        <p:spPr>
          <a:xfrm>
            <a:off x="4264945" y="3256510"/>
            <a:ext cx="3664160" cy="2474011"/>
          </a:xfrm>
          <a:custGeom>
            <a:avLst/>
            <a:gdLst/>
            <a:ahLst/>
            <a:cxnLst/>
            <a:rect l="l" t="t" r="r" b="b"/>
            <a:pathLst>
              <a:path w="3664160" h="2474011">
                <a:moveTo>
                  <a:pt x="0" y="0"/>
                </a:moveTo>
                <a:lnTo>
                  <a:pt x="3664160" y="0"/>
                </a:lnTo>
                <a:lnTo>
                  <a:pt x="3664160" y="2474011"/>
                </a:lnTo>
                <a:lnTo>
                  <a:pt x="0" y="2474011"/>
                </a:lnTo>
                <a:lnTo>
                  <a:pt x="0" y="0"/>
                </a:lnTo>
                <a:close/>
              </a:path>
            </a:pathLst>
          </a:custGeom>
          <a:solidFill>
            <a:srgbClr val="F9FAFB"/>
          </a:solidFill>
          <a:ln/>
        </p:spPr>
      </p:sp>
      <p:sp>
        <p:nvSpPr>
          <p:cNvPr id="14" name="Shape 12"/>
          <p:cNvSpPr/>
          <p:nvPr/>
        </p:nvSpPr>
        <p:spPr>
          <a:xfrm>
            <a:off x="4264945" y="3256510"/>
            <a:ext cx="3664160" cy="37485"/>
          </a:xfrm>
          <a:custGeom>
            <a:avLst/>
            <a:gdLst/>
            <a:ahLst/>
            <a:cxnLst/>
            <a:rect l="l" t="t" r="r" b="b"/>
            <a:pathLst>
              <a:path w="3664160" h="37485">
                <a:moveTo>
                  <a:pt x="0" y="0"/>
                </a:moveTo>
                <a:lnTo>
                  <a:pt x="3664160" y="0"/>
                </a:lnTo>
                <a:lnTo>
                  <a:pt x="3664160" y="37485"/>
                </a:lnTo>
                <a:lnTo>
                  <a:pt x="0" y="37485"/>
                </a:lnTo>
                <a:lnTo>
                  <a:pt x="0" y="0"/>
                </a:lnTo>
                <a:close/>
              </a:path>
            </a:pathLst>
          </a:custGeom>
          <a:solidFill>
            <a:srgbClr val="C1714F"/>
          </a:solidFill>
          <a:ln/>
        </p:spPr>
      </p:sp>
      <p:sp>
        <p:nvSpPr>
          <p:cNvPr id="15" name="Text 13"/>
          <p:cNvSpPr/>
          <p:nvPr/>
        </p:nvSpPr>
        <p:spPr>
          <a:xfrm>
            <a:off x="4452370" y="3462678"/>
            <a:ext cx="3383022" cy="262395"/>
          </a:xfrm>
          <a:prstGeom prst="rect">
            <a:avLst/>
          </a:prstGeom>
          <a:noFill/>
          <a:ln/>
        </p:spPr>
        <p:txBody>
          <a:bodyPr wrap="square" lIns="0" tIns="0" rIns="0" bIns="0" rtlCol="0" anchor="ctr"/>
          <a:lstStyle/>
          <a:p>
            <a:pPr>
              <a:lnSpc>
                <a:spcPct val="120000"/>
              </a:lnSpc>
            </a:pPr>
            <a:r>
              <a:rPr lang="en-US" sz="1476" b="1" dirty="0">
                <a:solidFill>
                  <a:srgbClr val="1F2937"/>
                </a:solidFill>
                <a:latin typeface="Sorts Mill Goudy" pitchFamily="34" charset="0"/>
                <a:ea typeface="Sorts Mill Goudy" pitchFamily="34" charset="-122"/>
                <a:cs typeface="Sorts Mill Goudy" pitchFamily="34" charset="-120"/>
              </a:rPr>
              <a:t>Unsupervised Insights</a:t>
            </a:r>
            <a:endParaRPr lang="en-US" sz="1600" dirty="0"/>
          </a:p>
        </p:txBody>
      </p:sp>
      <p:sp>
        <p:nvSpPr>
          <p:cNvPr id="16" name="Text 14"/>
          <p:cNvSpPr/>
          <p:nvPr/>
        </p:nvSpPr>
        <p:spPr>
          <a:xfrm>
            <a:off x="4452370" y="3837528"/>
            <a:ext cx="3364280" cy="1705568"/>
          </a:xfrm>
          <a:prstGeom prst="rect">
            <a:avLst/>
          </a:prstGeom>
          <a:noFill/>
          <a:ln/>
        </p:spPr>
        <p:txBody>
          <a:bodyPr wrap="square" lIns="0" tIns="0" rIns="0" bIns="0" rtlCol="0" anchor="ctr"/>
          <a:lstStyle/>
          <a:p>
            <a:pPr>
              <a:lnSpc>
                <a:spcPct val="140000"/>
              </a:lnSpc>
            </a:pPr>
            <a:r>
              <a:rPr lang="en-US" sz="1181" dirty="0">
                <a:solidFill>
                  <a:srgbClr val="1F2937"/>
                </a:solidFill>
                <a:latin typeface="Sorts Mill Goudy" pitchFamily="34" charset="0"/>
                <a:ea typeface="Sorts Mill Goudy" pitchFamily="34" charset="-122"/>
                <a:cs typeface="Sorts Mill Goudy" pitchFamily="34" charset="-120"/>
              </a:rPr>
              <a:t>The unsupervised analysis identified </a:t>
            </a:r>
            <a:pPr>
              <a:lnSpc>
                <a:spcPct val="140000"/>
              </a:lnSpc>
            </a:pPr>
            <a:r>
              <a:rPr lang="en-US" sz="1181" b="1" dirty="0">
                <a:solidFill>
                  <a:srgbClr val="1F2937"/>
                </a:solidFill>
                <a:latin typeface="Sorts Mill Goudy" pitchFamily="34" charset="0"/>
                <a:ea typeface="Sorts Mill Goudy" pitchFamily="34" charset="-122"/>
                <a:cs typeface="Sorts Mill Goudy" pitchFamily="34" charset="-120"/>
              </a:rPr>
              <a:t>four behavioral clusters</a:t>
            </a:r>
            <a:pPr>
              <a:lnSpc>
                <a:spcPct val="140000"/>
              </a:lnSpc>
            </a:pPr>
            <a:r>
              <a:rPr lang="en-US" sz="1181" dirty="0">
                <a:solidFill>
                  <a:srgbClr val="1F2937"/>
                </a:solidFill>
                <a:latin typeface="Sorts Mill Goudy" pitchFamily="34" charset="0"/>
                <a:ea typeface="Sorts Mill Goudy" pitchFamily="34" charset="-122"/>
                <a:cs typeface="Sorts Mill Goudy" pitchFamily="34" charset="-120"/>
              </a:rPr>
              <a:t> with modest differences in mean profiles. The cluster composition analysis showed that these groupings are </a:t>
            </a:r>
            <a:pPr>
              <a:lnSpc>
                <a:spcPct val="140000"/>
              </a:lnSpc>
            </a:pPr>
            <a:r>
              <a:rPr lang="en-US" sz="1181" b="1" dirty="0">
                <a:solidFill>
                  <a:srgbClr val="1F2937"/>
                </a:solidFill>
                <a:latin typeface="Sorts Mill Goudy" pitchFamily="34" charset="0"/>
                <a:ea typeface="Sorts Mill Goudy" pitchFamily="34" charset="-122"/>
                <a:cs typeface="Sorts Mill Goudy" pitchFamily="34" charset="-120"/>
              </a:rPr>
              <a:t>not aligned with sociodemographic variables</a:t>
            </a:r>
            <a:pPr>
              <a:lnSpc>
                <a:spcPct val="140000"/>
              </a:lnSpc>
            </a:pPr>
            <a:r>
              <a:rPr lang="en-US" sz="1181" dirty="0">
                <a:solidFill>
                  <a:srgbClr val="1F2937"/>
                </a:solidFill>
                <a:latin typeface="Sorts Mill Goudy" pitchFamily="34" charset="0"/>
                <a:ea typeface="Sorts Mill Goudy" pitchFamily="34" charset="-122"/>
                <a:cs typeface="Sorts Mill Goudy" pitchFamily="34" charset="-120"/>
              </a:rPr>
              <a:t>, suggesting they reflect combinations of behavioral variables rather than demographic segments.</a:t>
            </a:r>
            <a:endParaRPr lang="en-US" sz="1600" dirty="0"/>
          </a:p>
        </p:txBody>
      </p:sp>
      <p:sp>
        <p:nvSpPr>
          <p:cNvPr id="17" name="Shape 15"/>
          <p:cNvSpPr/>
          <p:nvPr/>
        </p:nvSpPr>
        <p:spPr>
          <a:xfrm>
            <a:off x="8155040" y="3256510"/>
            <a:ext cx="3664160" cy="2474011"/>
          </a:xfrm>
          <a:custGeom>
            <a:avLst/>
            <a:gdLst/>
            <a:ahLst/>
            <a:cxnLst/>
            <a:rect l="l" t="t" r="r" b="b"/>
            <a:pathLst>
              <a:path w="3664160" h="2474011">
                <a:moveTo>
                  <a:pt x="0" y="0"/>
                </a:moveTo>
                <a:lnTo>
                  <a:pt x="3664160" y="0"/>
                </a:lnTo>
                <a:lnTo>
                  <a:pt x="3664160" y="2474011"/>
                </a:lnTo>
                <a:lnTo>
                  <a:pt x="0" y="2474011"/>
                </a:lnTo>
                <a:lnTo>
                  <a:pt x="0" y="0"/>
                </a:lnTo>
                <a:close/>
              </a:path>
            </a:pathLst>
          </a:custGeom>
          <a:solidFill>
            <a:srgbClr val="F9FAFB"/>
          </a:solidFill>
          <a:ln/>
        </p:spPr>
      </p:sp>
      <p:sp>
        <p:nvSpPr>
          <p:cNvPr id="18" name="Shape 16"/>
          <p:cNvSpPr/>
          <p:nvPr/>
        </p:nvSpPr>
        <p:spPr>
          <a:xfrm>
            <a:off x="8155040" y="3256510"/>
            <a:ext cx="3664160" cy="37485"/>
          </a:xfrm>
          <a:custGeom>
            <a:avLst/>
            <a:gdLst/>
            <a:ahLst/>
            <a:cxnLst/>
            <a:rect l="l" t="t" r="r" b="b"/>
            <a:pathLst>
              <a:path w="3664160" h="37485">
                <a:moveTo>
                  <a:pt x="0" y="0"/>
                </a:moveTo>
                <a:lnTo>
                  <a:pt x="3664160" y="0"/>
                </a:lnTo>
                <a:lnTo>
                  <a:pt x="3664160" y="37485"/>
                </a:lnTo>
                <a:lnTo>
                  <a:pt x="0" y="37485"/>
                </a:lnTo>
                <a:lnTo>
                  <a:pt x="0" y="0"/>
                </a:lnTo>
                <a:close/>
              </a:path>
            </a:pathLst>
          </a:custGeom>
          <a:solidFill>
            <a:srgbClr val="8B0000"/>
          </a:solidFill>
          <a:ln/>
        </p:spPr>
      </p:sp>
      <p:sp>
        <p:nvSpPr>
          <p:cNvPr id="19" name="Text 17"/>
          <p:cNvSpPr/>
          <p:nvPr/>
        </p:nvSpPr>
        <p:spPr>
          <a:xfrm>
            <a:off x="8342465" y="3462678"/>
            <a:ext cx="3383022" cy="262395"/>
          </a:xfrm>
          <a:prstGeom prst="rect">
            <a:avLst/>
          </a:prstGeom>
          <a:noFill/>
          <a:ln/>
        </p:spPr>
        <p:txBody>
          <a:bodyPr wrap="square" lIns="0" tIns="0" rIns="0" bIns="0" rtlCol="0" anchor="ctr"/>
          <a:lstStyle/>
          <a:p>
            <a:pPr>
              <a:lnSpc>
                <a:spcPct val="120000"/>
              </a:lnSpc>
            </a:pPr>
            <a:r>
              <a:rPr lang="en-US" sz="1476" b="1" dirty="0">
                <a:solidFill>
                  <a:srgbClr val="1F2937"/>
                </a:solidFill>
                <a:latin typeface="Sorts Mill Goudy" pitchFamily="34" charset="0"/>
                <a:ea typeface="Sorts Mill Goudy" pitchFamily="34" charset="-122"/>
                <a:cs typeface="Sorts Mill Goudy" pitchFamily="34" charset="-120"/>
              </a:rPr>
              <a:t>Future Work</a:t>
            </a:r>
            <a:endParaRPr lang="en-US" sz="1600" dirty="0"/>
          </a:p>
        </p:txBody>
      </p:sp>
      <p:sp>
        <p:nvSpPr>
          <p:cNvPr id="20" name="Text 18"/>
          <p:cNvSpPr/>
          <p:nvPr/>
        </p:nvSpPr>
        <p:spPr>
          <a:xfrm>
            <a:off x="8342465" y="3837528"/>
            <a:ext cx="3364280" cy="1218263"/>
          </a:xfrm>
          <a:prstGeom prst="rect">
            <a:avLst/>
          </a:prstGeom>
          <a:noFill/>
          <a:ln/>
        </p:spPr>
        <p:txBody>
          <a:bodyPr wrap="square" lIns="0" tIns="0" rIns="0" bIns="0" rtlCol="0" anchor="ctr"/>
          <a:lstStyle/>
          <a:p>
            <a:pPr>
              <a:lnSpc>
                <a:spcPct val="140000"/>
              </a:lnSpc>
            </a:pPr>
            <a:r>
              <a:rPr lang="en-US" sz="1181" dirty="0">
                <a:solidFill>
                  <a:srgbClr val="1F2937"/>
                </a:solidFill>
                <a:latin typeface="Sorts Mill Goudy" pitchFamily="34" charset="0"/>
                <a:ea typeface="Sorts Mill Goudy" pitchFamily="34" charset="-122"/>
                <a:cs typeface="Sorts Mill Goudy" pitchFamily="34" charset="-120"/>
              </a:rPr>
              <a:t>Future work on a dataset with </a:t>
            </a:r>
            <a:pPr>
              <a:lnSpc>
                <a:spcPct val="140000"/>
              </a:lnSpc>
            </a:pPr>
            <a:r>
              <a:rPr lang="en-US" sz="1181" b="1" dirty="0">
                <a:solidFill>
                  <a:srgbClr val="1F2937"/>
                </a:solidFill>
                <a:latin typeface="Sorts Mill Goudy" pitchFamily="34" charset="0"/>
                <a:ea typeface="Sorts Mill Goudy" pitchFamily="34" charset="-122"/>
                <a:cs typeface="Sorts Mill Goudy" pitchFamily="34" charset="-120"/>
              </a:rPr>
              <a:t>genuine variable relationships</a:t>
            </a:r>
            <a:pPr>
              <a:lnSpc>
                <a:spcPct val="140000"/>
              </a:lnSpc>
            </a:pPr>
            <a:r>
              <a:rPr lang="en-US" sz="1181" dirty="0">
                <a:solidFill>
                  <a:srgbClr val="1F2937"/>
                </a:solidFill>
                <a:latin typeface="Sorts Mill Goudy" pitchFamily="34" charset="0"/>
                <a:ea typeface="Sorts Mill Goudy" pitchFamily="34" charset="-122"/>
                <a:cs typeface="Sorts Mill Goudy" pitchFamily="34" charset="-120"/>
              </a:rPr>
              <a:t> would allow the full potential of these methods to be demonstrated and deliver actionable insights about the behavioral determinants of productivity and stress.</a:t>
            </a:r>
            <a:endParaRPr lang="en-US" sz="1600" dirty="0"/>
          </a:p>
        </p:txBody>
      </p:sp>
      <p:sp>
        <p:nvSpPr>
          <p:cNvPr id="21" name="Shape 19"/>
          <p:cNvSpPr/>
          <p:nvPr/>
        </p:nvSpPr>
        <p:spPr>
          <a:xfrm>
            <a:off x="374850" y="5917946"/>
            <a:ext cx="11442300" cy="937125"/>
          </a:xfrm>
          <a:custGeom>
            <a:avLst/>
            <a:gdLst/>
            <a:ahLst/>
            <a:cxnLst/>
            <a:rect l="l" t="t" r="r" b="b"/>
            <a:pathLst>
              <a:path w="11442300" h="937125">
                <a:moveTo>
                  <a:pt x="0" y="0"/>
                </a:moveTo>
                <a:lnTo>
                  <a:pt x="11442300" y="0"/>
                </a:lnTo>
                <a:lnTo>
                  <a:pt x="11442300" y="937125"/>
                </a:lnTo>
                <a:lnTo>
                  <a:pt x="0" y="937125"/>
                </a:lnTo>
                <a:lnTo>
                  <a:pt x="0" y="0"/>
                </a:lnTo>
                <a:close/>
              </a:path>
            </a:pathLst>
          </a:custGeom>
          <a:solidFill>
            <a:srgbClr val="1F2937"/>
          </a:solidFill>
          <a:ln/>
        </p:spPr>
      </p:sp>
      <p:sp>
        <p:nvSpPr>
          <p:cNvPr id="22" name="Text 20"/>
          <p:cNvSpPr/>
          <p:nvPr/>
        </p:nvSpPr>
        <p:spPr>
          <a:xfrm>
            <a:off x="562275" y="6105371"/>
            <a:ext cx="6081943" cy="262395"/>
          </a:xfrm>
          <a:prstGeom prst="rect">
            <a:avLst/>
          </a:prstGeom>
          <a:noFill/>
          <a:ln/>
        </p:spPr>
        <p:txBody>
          <a:bodyPr wrap="square" lIns="0" tIns="0" rIns="0" bIns="0" rtlCol="0" anchor="ctr"/>
          <a:lstStyle/>
          <a:p>
            <a:pPr>
              <a:lnSpc>
                <a:spcPct val="120000"/>
              </a:lnSpc>
            </a:pPr>
            <a:r>
              <a:rPr lang="en-US" sz="1476" b="1" dirty="0">
                <a:solidFill>
                  <a:srgbClr val="FFFFFF"/>
                </a:solidFill>
                <a:latin typeface="Sorts Mill Goudy" pitchFamily="34" charset="0"/>
                <a:ea typeface="Sorts Mill Goudy" pitchFamily="34" charset="-122"/>
                <a:cs typeface="Sorts Mill Goudy" pitchFamily="34" charset="-120"/>
              </a:rPr>
              <a:t>Methods Applied</a:t>
            </a:r>
            <a:endParaRPr lang="en-US" sz="1600" dirty="0"/>
          </a:p>
        </p:txBody>
      </p:sp>
      <p:sp>
        <p:nvSpPr>
          <p:cNvPr id="23" name="Text 21"/>
          <p:cNvSpPr/>
          <p:nvPr/>
        </p:nvSpPr>
        <p:spPr>
          <a:xfrm>
            <a:off x="562275" y="6442736"/>
            <a:ext cx="6063201" cy="224910"/>
          </a:xfrm>
          <a:prstGeom prst="rect">
            <a:avLst/>
          </a:prstGeom>
          <a:noFill/>
          <a:ln/>
        </p:spPr>
        <p:txBody>
          <a:bodyPr wrap="square" lIns="0" tIns="0" rIns="0" bIns="0" rtlCol="0" anchor="ctr"/>
          <a:lstStyle/>
          <a:p>
            <a:pPr>
              <a:lnSpc>
                <a:spcPct val="130000"/>
              </a:lnSpc>
            </a:pPr>
            <a:r>
              <a:rPr lang="en-US" sz="1181" dirty="0">
                <a:solidFill>
                  <a:srgbClr val="FFFFFF"/>
                </a:solidFill>
                <a:latin typeface="Sorts Mill Goudy" pitchFamily="34" charset="0"/>
                <a:ea typeface="Sorts Mill Goudy" pitchFamily="34" charset="-122"/>
                <a:cs typeface="Sorts Mill Goudy" pitchFamily="34" charset="-120"/>
              </a:rPr>
              <a:t>EDA • PCA • K-Means Clustering • Linear Regression • Random Forest • Logistic Regression</a:t>
            </a:r>
            <a:endParaRPr lang="en-US" sz="1600" dirty="0"/>
          </a:p>
        </p:txBody>
      </p:sp>
      <p:sp>
        <p:nvSpPr>
          <p:cNvPr id="24" name="Text 22"/>
          <p:cNvSpPr/>
          <p:nvPr/>
        </p:nvSpPr>
        <p:spPr>
          <a:xfrm>
            <a:off x="8001952" y="6142856"/>
            <a:ext cx="3626675" cy="224910"/>
          </a:xfrm>
          <a:prstGeom prst="rect">
            <a:avLst/>
          </a:prstGeom>
          <a:noFill/>
          <a:ln/>
        </p:spPr>
        <p:txBody>
          <a:bodyPr wrap="square" lIns="0" tIns="0" rIns="0" bIns="0" rtlCol="0" anchor="ctr"/>
          <a:lstStyle/>
          <a:p>
            <a:pPr algn="r">
              <a:lnSpc>
                <a:spcPct val="130000"/>
              </a:lnSpc>
            </a:pPr>
            <a:r>
              <a:rPr lang="en-US" sz="1181" b="1" dirty="0">
                <a:solidFill>
                  <a:srgbClr val="FFFFFF"/>
                </a:solidFill>
                <a:latin typeface="Sorts Mill Goudy" pitchFamily="34" charset="0"/>
                <a:ea typeface="Sorts Mill Goudy" pitchFamily="34" charset="-122"/>
                <a:cs typeface="Sorts Mill Goudy" pitchFamily="34" charset="-120"/>
              </a:rPr>
              <a:t>Dataset:</a:t>
            </a:r>
            <a:pPr algn="r">
              <a:lnSpc>
                <a:spcPct val="130000"/>
              </a:lnSpc>
            </a:pPr>
            <a:r>
              <a:rPr lang="en-US" sz="1181" dirty="0">
                <a:solidFill>
                  <a:srgbClr val="FFFFFF"/>
                </a:solidFill>
                <a:latin typeface="Sorts Mill Goudy" pitchFamily="34" charset="0"/>
                <a:ea typeface="Sorts Mill Goudy" pitchFamily="34" charset="-122"/>
                <a:cs typeface="Sorts Mill Goudy" pitchFamily="34" charset="-120"/>
              </a:rPr>
              <a:t> 50,000 observations × 13 variables</a:t>
            </a:r>
            <a:endParaRPr lang="en-US" sz="1600" dirty="0"/>
          </a:p>
        </p:txBody>
      </p:sp>
      <p:sp>
        <p:nvSpPr>
          <p:cNvPr id="25" name="Text 23"/>
          <p:cNvSpPr/>
          <p:nvPr/>
        </p:nvSpPr>
        <p:spPr>
          <a:xfrm>
            <a:off x="8001952" y="6405251"/>
            <a:ext cx="3626675" cy="224910"/>
          </a:xfrm>
          <a:prstGeom prst="rect">
            <a:avLst/>
          </a:prstGeom>
          <a:noFill/>
          <a:ln/>
        </p:spPr>
        <p:txBody>
          <a:bodyPr wrap="square" lIns="0" tIns="0" rIns="0" bIns="0" rtlCol="0" anchor="ctr"/>
          <a:lstStyle/>
          <a:p>
            <a:pPr algn="r">
              <a:lnSpc>
                <a:spcPct val="130000"/>
              </a:lnSpc>
            </a:pPr>
            <a:r>
              <a:rPr lang="en-US" sz="1181" b="1" dirty="0">
                <a:solidFill>
                  <a:srgbClr val="FFFFFF"/>
                </a:solidFill>
                <a:latin typeface="Sorts Mill Goudy" pitchFamily="34" charset="0"/>
                <a:ea typeface="Sorts Mill Goudy" pitchFamily="34" charset="-122"/>
                <a:cs typeface="Sorts Mill Goudy" pitchFamily="34" charset="-120"/>
              </a:rPr>
              <a:t>Software:</a:t>
            </a:r>
            <a:pPr algn="r">
              <a:lnSpc>
                <a:spcPct val="130000"/>
              </a:lnSpc>
            </a:pPr>
            <a:r>
              <a:rPr lang="en-US" sz="1181" dirty="0">
                <a:solidFill>
                  <a:srgbClr val="FFFFFF"/>
                </a:solidFill>
                <a:latin typeface="Sorts Mill Goudy" pitchFamily="34" charset="0"/>
                <a:ea typeface="Sorts Mill Goudy" pitchFamily="34" charset="-122"/>
                <a:cs typeface="Sorts Mill Goudy" pitchFamily="34" charset="-120"/>
              </a:rPr>
              <a:t> R (tidyverse, randomForest, caret, factoextra)</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Smartphone Usage &amp; Productivity</dc:title>
  <dc:subject>Smartphone Usage &amp; Productivity</dc:subject>
  <dc:creator>Kimi</dc:creator>
  <cp:lastModifiedBy>Kimi</cp:lastModifiedBy>
  <cp:revision>1</cp:revision>
  <dcterms:created xsi:type="dcterms:W3CDTF">2026-03-25T18:40:06Z</dcterms:created>
  <dcterms:modified xsi:type="dcterms:W3CDTF">2026-03-25T18:40:06Z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{"Label":"Smartphone Usage &amp; Productivity","ContentProducer":"001191110108MACG2KBH8F10000","ProduceID":"19d26486-5b42-806f-8000-0000035bd3b2","ReservedCode1":"","ContentPropagator":"001191110108MACG2KBH8F20000","PropagateID":"19d26486-5b42-806f-8000-0000035bd3b2","ReservedCode2":""}</vt:lpwstr>
  </property>
</Properties>
</file>